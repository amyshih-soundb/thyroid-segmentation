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5" r:id="rId2"/>
    <p:sldId id="268" r:id="rId3"/>
    <p:sldId id="269" r:id="rId4"/>
    <p:sldId id="266" r:id="rId5"/>
  </p:sldIdLst>
  <p:sldSz cx="12192000" cy="6858000"/>
  <p:notesSz cx="6858000" cy="9144000"/>
  <p:defaultTextStyle>
    <a:defPPr>
      <a:defRPr lang="en-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45"/>
    <p:restoredTop sz="94681"/>
  </p:normalViewPr>
  <p:slideViewPr>
    <p:cSldViewPr snapToGrid="0">
      <p:cViewPr varScale="1">
        <p:scale>
          <a:sx n="116" d="100"/>
          <a:sy n="116" d="100"/>
        </p:scale>
        <p:origin x="416"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3BDE8-BDF6-D522-E04C-D0AE1BE5CFC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TW"/>
          </a:p>
        </p:txBody>
      </p:sp>
      <p:sp>
        <p:nvSpPr>
          <p:cNvPr id="3" name="Subtitle 2">
            <a:extLst>
              <a:ext uri="{FF2B5EF4-FFF2-40B4-BE49-F238E27FC236}">
                <a16:creationId xmlns:a16="http://schemas.microsoft.com/office/drawing/2014/main" id="{C54EA40A-FFA5-D149-A95E-5977C6A1911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TW"/>
          </a:p>
        </p:txBody>
      </p:sp>
      <p:sp>
        <p:nvSpPr>
          <p:cNvPr id="4" name="Date Placeholder 3">
            <a:extLst>
              <a:ext uri="{FF2B5EF4-FFF2-40B4-BE49-F238E27FC236}">
                <a16:creationId xmlns:a16="http://schemas.microsoft.com/office/drawing/2014/main" id="{E9A1BBC4-7A7F-C920-1B8B-98002F1B21CB}"/>
              </a:ext>
            </a:extLst>
          </p:cNvPr>
          <p:cNvSpPr>
            <a:spLocks noGrp="1"/>
          </p:cNvSpPr>
          <p:nvPr>
            <p:ph type="dt" sz="half" idx="10"/>
          </p:nvPr>
        </p:nvSpPr>
        <p:spPr/>
        <p:txBody>
          <a:bodyPr/>
          <a:lstStyle/>
          <a:p>
            <a:fld id="{8879CBB5-6B43-9440-9C77-E3AD9C964B8A}" type="datetimeFigureOut">
              <a:rPr lang="en-TW" smtClean="0"/>
              <a:t>2026/10/19</a:t>
            </a:fld>
            <a:endParaRPr lang="en-TW"/>
          </a:p>
        </p:txBody>
      </p:sp>
      <p:sp>
        <p:nvSpPr>
          <p:cNvPr id="5" name="Footer Placeholder 4">
            <a:extLst>
              <a:ext uri="{FF2B5EF4-FFF2-40B4-BE49-F238E27FC236}">
                <a16:creationId xmlns:a16="http://schemas.microsoft.com/office/drawing/2014/main" id="{F94AC52D-6ABA-AFD0-49E3-B0F0ADBE2825}"/>
              </a:ext>
            </a:extLst>
          </p:cNvPr>
          <p:cNvSpPr>
            <a:spLocks noGrp="1"/>
          </p:cNvSpPr>
          <p:nvPr>
            <p:ph type="ftr" sz="quarter" idx="11"/>
          </p:nvPr>
        </p:nvSpPr>
        <p:spPr/>
        <p:txBody>
          <a:bodyPr/>
          <a:lstStyle/>
          <a:p>
            <a:endParaRPr lang="en-TW"/>
          </a:p>
        </p:txBody>
      </p:sp>
      <p:sp>
        <p:nvSpPr>
          <p:cNvPr id="6" name="Slide Number Placeholder 5">
            <a:extLst>
              <a:ext uri="{FF2B5EF4-FFF2-40B4-BE49-F238E27FC236}">
                <a16:creationId xmlns:a16="http://schemas.microsoft.com/office/drawing/2014/main" id="{173D3AF0-0109-4116-0DA3-98AB8B6EA9F9}"/>
              </a:ext>
            </a:extLst>
          </p:cNvPr>
          <p:cNvSpPr>
            <a:spLocks noGrp="1"/>
          </p:cNvSpPr>
          <p:nvPr>
            <p:ph type="sldNum" sz="quarter" idx="12"/>
          </p:nvPr>
        </p:nvSpPr>
        <p:spPr/>
        <p:txBody>
          <a:bodyPr/>
          <a:lstStyle/>
          <a:p>
            <a:fld id="{6B5CCE51-2807-9745-A075-4EF89E4FC7DF}" type="slidenum">
              <a:rPr lang="en-TW" smtClean="0"/>
              <a:t>‹#›</a:t>
            </a:fld>
            <a:endParaRPr lang="en-TW"/>
          </a:p>
        </p:txBody>
      </p:sp>
    </p:spTree>
    <p:extLst>
      <p:ext uri="{BB962C8B-B14F-4D97-AF65-F5344CB8AC3E}">
        <p14:creationId xmlns:p14="http://schemas.microsoft.com/office/powerpoint/2010/main" val="38038823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717E98-F7DA-9A63-64CF-EF61A64220E2}"/>
              </a:ext>
            </a:extLst>
          </p:cNvPr>
          <p:cNvSpPr>
            <a:spLocks noGrp="1"/>
          </p:cNvSpPr>
          <p:nvPr>
            <p:ph type="title"/>
          </p:nvPr>
        </p:nvSpPr>
        <p:spPr/>
        <p:txBody>
          <a:bodyPr/>
          <a:lstStyle/>
          <a:p>
            <a:r>
              <a:rPr lang="en-US"/>
              <a:t>Click to edit Master title style</a:t>
            </a:r>
            <a:endParaRPr lang="en-TW"/>
          </a:p>
        </p:txBody>
      </p:sp>
      <p:sp>
        <p:nvSpPr>
          <p:cNvPr id="3" name="Content Placeholder 2">
            <a:extLst>
              <a:ext uri="{FF2B5EF4-FFF2-40B4-BE49-F238E27FC236}">
                <a16:creationId xmlns:a16="http://schemas.microsoft.com/office/drawing/2014/main" id="{82DC301D-F9B1-0497-57C3-C8FF56C728C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W"/>
          </a:p>
        </p:txBody>
      </p:sp>
      <p:sp>
        <p:nvSpPr>
          <p:cNvPr id="4" name="Date Placeholder 3">
            <a:extLst>
              <a:ext uri="{FF2B5EF4-FFF2-40B4-BE49-F238E27FC236}">
                <a16:creationId xmlns:a16="http://schemas.microsoft.com/office/drawing/2014/main" id="{CFFAE9A1-292D-0949-0AB3-12CCDB64D0EC}"/>
              </a:ext>
            </a:extLst>
          </p:cNvPr>
          <p:cNvSpPr>
            <a:spLocks noGrp="1"/>
          </p:cNvSpPr>
          <p:nvPr>
            <p:ph type="dt" sz="half" idx="10"/>
          </p:nvPr>
        </p:nvSpPr>
        <p:spPr/>
        <p:txBody>
          <a:bodyPr/>
          <a:lstStyle/>
          <a:p>
            <a:fld id="{8879CBB5-6B43-9440-9C77-E3AD9C964B8A}" type="datetimeFigureOut">
              <a:rPr lang="en-TW" smtClean="0"/>
              <a:t>2026/10/19</a:t>
            </a:fld>
            <a:endParaRPr lang="en-TW"/>
          </a:p>
        </p:txBody>
      </p:sp>
      <p:sp>
        <p:nvSpPr>
          <p:cNvPr id="5" name="Footer Placeholder 4">
            <a:extLst>
              <a:ext uri="{FF2B5EF4-FFF2-40B4-BE49-F238E27FC236}">
                <a16:creationId xmlns:a16="http://schemas.microsoft.com/office/drawing/2014/main" id="{B06EF23B-6C37-22DB-4E1C-A655746B1C2F}"/>
              </a:ext>
            </a:extLst>
          </p:cNvPr>
          <p:cNvSpPr>
            <a:spLocks noGrp="1"/>
          </p:cNvSpPr>
          <p:nvPr>
            <p:ph type="ftr" sz="quarter" idx="11"/>
          </p:nvPr>
        </p:nvSpPr>
        <p:spPr/>
        <p:txBody>
          <a:bodyPr/>
          <a:lstStyle/>
          <a:p>
            <a:endParaRPr lang="en-TW"/>
          </a:p>
        </p:txBody>
      </p:sp>
      <p:sp>
        <p:nvSpPr>
          <p:cNvPr id="6" name="Slide Number Placeholder 5">
            <a:extLst>
              <a:ext uri="{FF2B5EF4-FFF2-40B4-BE49-F238E27FC236}">
                <a16:creationId xmlns:a16="http://schemas.microsoft.com/office/drawing/2014/main" id="{67A07E57-EBD6-ED4F-234D-30E434711F0A}"/>
              </a:ext>
            </a:extLst>
          </p:cNvPr>
          <p:cNvSpPr>
            <a:spLocks noGrp="1"/>
          </p:cNvSpPr>
          <p:nvPr>
            <p:ph type="sldNum" sz="quarter" idx="12"/>
          </p:nvPr>
        </p:nvSpPr>
        <p:spPr/>
        <p:txBody>
          <a:bodyPr/>
          <a:lstStyle/>
          <a:p>
            <a:fld id="{6B5CCE51-2807-9745-A075-4EF89E4FC7DF}" type="slidenum">
              <a:rPr lang="en-TW" smtClean="0"/>
              <a:t>‹#›</a:t>
            </a:fld>
            <a:endParaRPr lang="en-TW"/>
          </a:p>
        </p:txBody>
      </p:sp>
    </p:spTree>
    <p:extLst>
      <p:ext uri="{BB962C8B-B14F-4D97-AF65-F5344CB8AC3E}">
        <p14:creationId xmlns:p14="http://schemas.microsoft.com/office/powerpoint/2010/main" val="16925289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9CC5A-56C6-020D-6A23-D76E8C8EAEA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TW"/>
          </a:p>
        </p:txBody>
      </p:sp>
      <p:sp>
        <p:nvSpPr>
          <p:cNvPr id="3" name="Text Placeholder 2">
            <a:extLst>
              <a:ext uri="{FF2B5EF4-FFF2-40B4-BE49-F238E27FC236}">
                <a16:creationId xmlns:a16="http://schemas.microsoft.com/office/drawing/2014/main" id="{EA47FA4B-E65E-61EE-359F-5AAB81F8963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F658B05-3ED7-980E-BE45-7C8A462B1284}"/>
              </a:ext>
            </a:extLst>
          </p:cNvPr>
          <p:cNvSpPr>
            <a:spLocks noGrp="1"/>
          </p:cNvSpPr>
          <p:nvPr>
            <p:ph type="dt" sz="half" idx="10"/>
          </p:nvPr>
        </p:nvSpPr>
        <p:spPr/>
        <p:txBody>
          <a:bodyPr/>
          <a:lstStyle/>
          <a:p>
            <a:fld id="{8879CBB5-6B43-9440-9C77-E3AD9C964B8A}" type="datetimeFigureOut">
              <a:rPr lang="en-TW" smtClean="0"/>
              <a:t>2026/10/19</a:t>
            </a:fld>
            <a:endParaRPr lang="en-TW"/>
          </a:p>
        </p:txBody>
      </p:sp>
      <p:sp>
        <p:nvSpPr>
          <p:cNvPr id="5" name="Footer Placeholder 4">
            <a:extLst>
              <a:ext uri="{FF2B5EF4-FFF2-40B4-BE49-F238E27FC236}">
                <a16:creationId xmlns:a16="http://schemas.microsoft.com/office/drawing/2014/main" id="{7DF2397B-51F4-9146-CC29-7B2C9FBE525F}"/>
              </a:ext>
            </a:extLst>
          </p:cNvPr>
          <p:cNvSpPr>
            <a:spLocks noGrp="1"/>
          </p:cNvSpPr>
          <p:nvPr>
            <p:ph type="ftr" sz="quarter" idx="11"/>
          </p:nvPr>
        </p:nvSpPr>
        <p:spPr/>
        <p:txBody>
          <a:bodyPr/>
          <a:lstStyle/>
          <a:p>
            <a:endParaRPr lang="en-TW"/>
          </a:p>
        </p:txBody>
      </p:sp>
      <p:sp>
        <p:nvSpPr>
          <p:cNvPr id="6" name="Slide Number Placeholder 5">
            <a:extLst>
              <a:ext uri="{FF2B5EF4-FFF2-40B4-BE49-F238E27FC236}">
                <a16:creationId xmlns:a16="http://schemas.microsoft.com/office/drawing/2014/main" id="{C77274E2-558E-0A4A-8655-821D9791D69E}"/>
              </a:ext>
            </a:extLst>
          </p:cNvPr>
          <p:cNvSpPr>
            <a:spLocks noGrp="1"/>
          </p:cNvSpPr>
          <p:nvPr>
            <p:ph type="sldNum" sz="quarter" idx="12"/>
          </p:nvPr>
        </p:nvSpPr>
        <p:spPr/>
        <p:txBody>
          <a:bodyPr/>
          <a:lstStyle/>
          <a:p>
            <a:fld id="{6B5CCE51-2807-9745-A075-4EF89E4FC7DF}" type="slidenum">
              <a:rPr lang="en-TW" smtClean="0"/>
              <a:t>‹#›</a:t>
            </a:fld>
            <a:endParaRPr lang="en-TW"/>
          </a:p>
        </p:txBody>
      </p:sp>
    </p:spTree>
    <p:extLst>
      <p:ext uri="{BB962C8B-B14F-4D97-AF65-F5344CB8AC3E}">
        <p14:creationId xmlns:p14="http://schemas.microsoft.com/office/powerpoint/2010/main" val="40399788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0412A-E75C-DC03-9EE8-264D354949D7}"/>
              </a:ext>
            </a:extLst>
          </p:cNvPr>
          <p:cNvSpPr>
            <a:spLocks noGrp="1"/>
          </p:cNvSpPr>
          <p:nvPr>
            <p:ph type="title"/>
          </p:nvPr>
        </p:nvSpPr>
        <p:spPr/>
        <p:txBody>
          <a:bodyPr/>
          <a:lstStyle/>
          <a:p>
            <a:r>
              <a:rPr lang="en-US"/>
              <a:t>Click to edit Master title style</a:t>
            </a:r>
            <a:endParaRPr lang="en-TW"/>
          </a:p>
        </p:txBody>
      </p:sp>
      <p:sp>
        <p:nvSpPr>
          <p:cNvPr id="3" name="Content Placeholder 2">
            <a:extLst>
              <a:ext uri="{FF2B5EF4-FFF2-40B4-BE49-F238E27FC236}">
                <a16:creationId xmlns:a16="http://schemas.microsoft.com/office/drawing/2014/main" id="{81EA67A5-2E78-DFE3-C2F1-EC1BAAE6226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W"/>
          </a:p>
        </p:txBody>
      </p:sp>
      <p:sp>
        <p:nvSpPr>
          <p:cNvPr id="4" name="Content Placeholder 3">
            <a:extLst>
              <a:ext uri="{FF2B5EF4-FFF2-40B4-BE49-F238E27FC236}">
                <a16:creationId xmlns:a16="http://schemas.microsoft.com/office/drawing/2014/main" id="{BE1CB02B-585E-6C78-4634-4A57FA08353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W"/>
          </a:p>
        </p:txBody>
      </p:sp>
      <p:sp>
        <p:nvSpPr>
          <p:cNvPr id="5" name="Date Placeholder 4">
            <a:extLst>
              <a:ext uri="{FF2B5EF4-FFF2-40B4-BE49-F238E27FC236}">
                <a16:creationId xmlns:a16="http://schemas.microsoft.com/office/drawing/2014/main" id="{FA17D700-B212-A688-72D8-1B6EBA11C915}"/>
              </a:ext>
            </a:extLst>
          </p:cNvPr>
          <p:cNvSpPr>
            <a:spLocks noGrp="1"/>
          </p:cNvSpPr>
          <p:nvPr>
            <p:ph type="dt" sz="half" idx="10"/>
          </p:nvPr>
        </p:nvSpPr>
        <p:spPr/>
        <p:txBody>
          <a:bodyPr/>
          <a:lstStyle/>
          <a:p>
            <a:fld id="{8879CBB5-6B43-9440-9C77-E3AD9C964B8A}" type="datetimeFigureOut">
              <a:rPr lang="en-TW" smtClean="0"/>
              <a:t>2026/10/19</a:t>
            </a:fld>
            <a:endParaRPr lang="en-TW"/>
          </a:p>
        </p:txBody>
      </p:sp>
      <p:sp>
        <p:nvSpPr>
          <p:cNvPr id="6" name="Footer Placeholder 5">
            <a:extLst>
              <a:ext uri="{FF2B5EF4-FFF2-40B4-BE49-F238E27FC236}">
                <a16:creationId xmlns:a16="http://schemas.microsoft.com/office/drawing/2014/main" id="{A55FA60A-F281-AE26-D982-BC3E6F69FA15}"/>
              </a:ext>
            </a:extLst>
          </p:cNvPr>
          <p:cNvSpPr>
            <a:spLocks noGrp="1"/>
          </p:cNvSpPr>
          <p:nvPr>
            <p:ph type="ftr" sz="quarter" idx="11"/>
          </p:nvPr>
        </p:nvSpPr>
        <p:spPr/>
        <p:txBody>
          <a:bodyPr/>
          <a:lstStyle/>
          <a:p>
            <a:endParaRPr lang="en-TW"/>
          </a:p>
        </p:txBody>
      </p:sp>
      <p:sp>
        <p:nvSpPr>
          <p:cNvPr id="7" name="Slide Number Placeholder 6">
            <a:extLst>
              <a:ext uri="{FF2B5EF4-FFF2-40B4-BE49-F238E27FC236}">
                <a16:creationId xmlns:a16="http://schemas.microsoft.com/office/drawing/2014/main" id="{C889BCF2-2643-9CCA-0319-EADF4469687C}"/>
              </a:ext>
            </a:extLst>
          </p:cNvPr>
          <p:cNvSpPr>
            <a:spLocks noGrp="1"/>
          </p:cNvSpPr>
          <p:nvPr>
            <p:ph type="sldNum" sz="quarter" idx="12"/>
          </p:nvPr>
        </p:nvSpPr>
        <p:spPr/>
        <p:txBody>
          <a:bodyPr/>
          <a:lstStyle/>
          <a:p>
            <a:fld id="{6B5CCE51-2807-9745-A075-4EF89E4FC7DF}" type="slidenum">
              <a:rPr lang="en-TW" smtClean="0"/>
              <a:t>‹#›</a:t>
            </a:fld>
            <a:endParaRPr lang="en-TW"/>
          </a:p>
        </p:txBody>
      </p:sp>
    </p:spTree>
    <p:extLst>
      <p:ext uri="{BB962C8B-B14F-4D97-AF65-F5344CB8AC3E}">
        <p14:creationId xmlns:p14="http://schemas.microsoft.com/office/powerpoint/2010/main" val="19659826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1C4D6-8457-4606-F771-73A486168ECF}"/>
              </a:ext>
            </a:extLst>
          </p:cNvPr>
          <p:cNvSpPr>
            <a:spLocks noGrp="1"/>
          </p:cNvSpPr>
          <p:nvPr>
            <p:ph type="title"/>
          </p:nvPr>
        </p:nvSpPr>
        <p:spPr>
          <a:xfrm>
            <a:off x="839788" y="365125"/>
            <a:ext cx="10515600" cy="1325563"/>
          </a:xfrm>
        </p:spPr>
        <p:txBody>
          <a:bodyPr/>
          <a:lstStyle/>
          <a:p>
            <a:r>
              <a:rPr lang="en-US"/>
              <a:t>Click to edit Master title style</a:t>
            </a:r>
            <a:endParaRPr lang="en-TW"/>
          </a:p>
        </p:txBody>
      </p:sp>
      <p:sp>
        <p:nvSpPr>
          <p:cNvPr id="3" name="Text Placeholder 2">
            <a:extLst>
              <a:ext uri="{FF2B5EF4-FFF2-40B4-BE49-F238E27FC236}">
                <a16:creationId xmlns:a16="http://schemas.microsoft.com/office/drawing/2014/main" id="{6FD414A1-4150-8A61-83F9-8A7B76AED46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853BE85-4F97-9C96-48D4-3B56A588572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W"/>
          </a:p>
        </p:txBody>
      </p:sp>
      <p:sp>
        <p:nvSpPr>
          <p:cNvPr id="5" name="Text Placeholder 4">
            <a:extLst>
              <a:ext uri="{FF2B5EF4-FFF2-40B4-BE49-F238E27FC236}">
                <a16:creationId xmlns:a16="http://schemas.microsoft.com/office/drawing/2014/main" id="{46D29861-E73A-94B7-DD4E-A795B6779BB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1566148-21F5-9FED-BBF5-D2C04352D5D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W"/>
          </a:p>
        </p:txBody>
      </p:sp>
      <p:sp>
        <p:nvSpPr>
          <p:cNvPr id="7" name="Date Placeholder 6">
            <a:extLst>
              <a:ext uri="{FF2B5EF4-FFF2-40B4-BE49-F238E27FC236}">
                <a16:creationId xmlns:a16="http://schemas.microsoft.com/office/drawing/2014/main" id="{ED7F97BF-481D-B308-E2A7-858498B2E9C1}"/>
              </a:ext>
            </a:extLst>
          </p:cNvPr>
          <p:cNvSpPr>
            <a:spLocks noGrp="1"/>
          </p:cNvSpPr>
          <p:nvPr>
            <p:ph type="dt" sz="half" idx="10"/>
          </p:nvPr>
        </p:nvSpPr>
        <p:spPr/>
        <p:txBody>
          <a:bodyPr/>
          <a:lstStyle/>
          <a:p>
            <a:fld id="{8879CBB5-6B43-9440-9C77-E3AD9C964B8A}" type="datetimeFigureOut">
              <a:rPr lang="en-TW" smtClean="0"/>
              <a:t>2026/10/19</a:t>
            </a:fld>
            <a:endParaRPr lang="en-TW"/>
          </a:p>
        </p:txBody>
      </p:sp>
      <p:sp>
        <p:nvSpPr>
          <p:cNvPr id="8" name="Footer Placeholder 7">
            <a:extLst>
              <a:ext uri="{FF2B5EF4-FFF2-40B4-BE49-F238E27FC236}">
                <a16:creationId xmlns:a16="http://schemas.microsoft.com/office/drawing/2014/main" id="{5A2E7BCD-85D8-BD36-DBA2-CD5D1C911FE4}"/>
              </a:ext>
            </a:extLst>
          </p:cNvPr>
          <p:cNvSpPr>
            <a:spLocks noGrp="1"/>
          </p:cNvSpPr>
          <p:nvPr>
            <p:ph type="ftr" sz="quarter" idx="11"/>
          </p:nvPr>
        </p:nvSpPr>
        <p:spPr/>
        <p:txBody>
          <a:bodyPr/>
          <a:lstStyle/>
          <a:p>
            <a:endParaRPr lang="en-TW"/>
          </a:p>
        </p:txBody>
      </p:sp>
      <p:sp>
        <p:nvSpPr>
          <p:cNvPr id="9" name="Slide Number Placeholder 8">
            <a:extLst>
              <a:ext uri="{FF2B5EF4-FFF2-40B4-BE49-F238E27FC236}">
                <a16:creationId xmlns:a16="http://schemas.microsoft.com/office/drawing/2014/main" id="{627E59B6-99A2-248B-C8C6-0CCA18ABB4C0}"/>
              </a:ext>
            </a:extLst>
          </p:cNvPr>
          <p:cNvSpPr>
            <a:spLocks noGrp="1"/>
          </p:cNvSpPr>
          <p:nvPr>
            <p:ph type="sldNum" sz="quarter" idx="12"/>
          </p:nvPr>
        </p:nvSpPr>
        <p:spPr/>
        <p:txBody>
          <a:bodyPr/>
          <a:lstStyle/>
          <a:p>
            <a:fld id="{6B5CCE51-2807-9745-A075-4EF89E4FC7DF}" type="slidenum">
              <a:rPr lang="en-TW" smtClean="0"/>
              <a:t>‹#›</a:t>
            </a:fld>
            <a:endParaRPr lang="en-TW"/>
          </a:p>
        </p:txBody>
      </p:sp>
    </p:spTree>
    <p:extLst>
      <p:ext uri="{BB962C8B-B14F-4D97-AF65-F5344CB8AC3E}">
        <p14:creationId xmlns:p14="http://schemas.microsoft.com/office/powerpoint/2010/main" val="31467651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863BE-BB54-397A-FB14-4FD1377EC917}"/>
              </a:ext>
            </a:extLst>
          </p:cNvPr>
          <p:cNvSpPr>
            <a:spLocks noGrp="1"/>
          </p:cNvSpPr>
          <p:nvPr>
            <p:ph type="title"/>
          </p:nvPr>
        </p:nvSpPr>
        <p:spPr/>
        <p:txBody>
          <a:bodyPr/>
          <a:lstStyle/>
          <a:p>
            <a:r>
              <a:rPr lang="en-US"/>
              <a:t>Click to edit Master title style</a:t>
            </a:r>
            <a:endParaRPr lang="en-TW"/>
          </a:p>
        </p:txBody>
      </p:sp>
      <p:sp>
        <p:nvSpPr>
          <p:cNvPr id="3" name="Date Placeholder 2">
            <a:extLst>
              <a:ext uri="{FF2B5EF4-FFF2-40B4-BE49-F238E27FC236}">
                <a16:creationId xmlns:a16="http://schemas.microsoft.com/office/drawing/2014/main" id="{4CD7D3A9-F9A3-C72B-11F6-CDB218FBBE02}"/>
              </a:ext>
            </a:extLst>
          </p:cNvPr>
          <p:cNvSpPr>
            <a:spLocks noGrp="1"/>
          </p:cNvSpPr>
          <p:nvPr>
            <p:ph type="dt" sz="half" idx="10"/>
          </p:nvPr>
        </p:nvSpPr>
        <p:spPr/>
        <p:txBody>
          <a:bodyPr/>
          <a:lstStyle/>
          <a:p>
            <a:fld id="{8879CBB5-6B43-9440-9C77-E3AD9C964B8A}" type="datetimeFigureOut">
              <a:rPr lang="en-TW" smtClean="0"/>
              <a:t>2026/10/19</a:t>
            </a:fld>
            <a:endParaRPr lang="en-TW"/>
          </a:p>
        </p:txBody>
      </p:sp>
      <p:sp>
        <p:nvSpPr>
          <p:cNvPr id="4" name="Footer Placeholder 3">
            <a:extLst>
              <a:ext uri="{FF2B5EF4-FFF2-40B4-BE49-F238E27FC236}">
                <a16:creationId xmlns:a16="http://schemas.microsoft.com/office/drawing/2014/main" id="{B259C3E7-CC50-63A2-7918-B46F51A21097}"/>
              </a:ext>
            </a:extLst>
          </p:cNvPr>
          <p:cNvSpPr>
            <a:spLocks noGrp="1"/>
          </p:cNvSpPr>
          <p:nvPr>
            <p:ph type="ftr" sz="quarter" idx="11"/>
          </p:nvPr>
        </p:nvSpPr>
        <p:spPr/>
        <p:txBody>
          <a:bodyPr/>
          <a:lstStyle/>
          <a:p>
            <a:endParaRPr lang="en-TW"/>
          </a:p>
        </p:txBody>
      </p:sp>
      <p:sp>
        <p:nvSpPr>
          <p:cNvPr id="5" name="Slide Number Placeholder 4">
            <a:extLst>
              <a:ext uri="{FF2B5EF4-FFF2-40B4-BE49-F238E27FC236}">
                <a16:creationId xmlns:a16="http://schemas.microsoft.com/office/drawing/2014/main" id="{AC64985C-966E-D0F0-40AA-16DBC6668511}"/>
              </a:ext>
            </a:extLst>
          </p:cNvPr>
          <p:cNvSpPr>
            <a:spLocks noGrp="1"/>
          </p:cNvSpPr>
          <p:nvPr>
            <p:ph type="sldNum" sz="quarter" idx="12"/>
          </p:nvPr>
        </p:nvSpPr>
        <p:spPr/>
        <p:txBody>
          <a:bodyPr/>
          <a:lstStyle/>
          <a:p>
            <a:fld id="{6B5CCE51-2807-9745-A075-4EF89E4FC7DF}" type="slidenum">
              <a:rPr lang="en-TW" smtClean="0"/>
              <a:t>‹#›</a:t>
            </a:fld>
            <a:endParaRPr lang="en-TW"/>
          </a:p>
        </p:txBody>
      </p:sp>
    </p:spTree>
    <p:extLst>
      <p:ext uri="{BB962C8B-B14F-4D97-AF65-F5344CB8AC3E}">
        <p14:creationId xmlns:p14="http://schemas.microsoft.com/office/powerpoint/2010/main" val="27215323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9F65311-E1E5-D05E-6012-809138907385}"/>
              </a:ext>
            </a:extLst>
          </p:cNvPr>
          <p:cNvSpPr>
            <a:spLocks noGrp="1"/>
          </p:cNvSpPr>
          <p:nvPr>
            <p:ph type="dt" sz="half" idx="10"/>
          </p:nvPr>
        </p:nvSpPr>
        <p:spPr/>
        <p:txBody>
          <a:bodyPr/>
          <a:lstStyle/>
          <a:p>
            <a:fld id="{8879CBB5-6B43-9440-9C77-E3AD9C964B8A}" type="datetimeFigureOut">
              <a:rPr lang="en-TW" smtClean="0"/>
              <a:t>2026/10/19</a:t>
            </a:fld>
            <a:endParaRPr lang="en-TW"/>
          </a:p>
        </p:txBody>
      </p:sp>
      <p:sp>
        <p:nvSpPr>
          <p:cNvPr id="3" name="Footer Placeholder 2">
            <a:extLst>
              <a:ext uri="{FF2B5EF4-FFF2-40B4-BE49-F238E27FC236}">
                <a16:creationId xmlns:a16="http://schemas.microsoft.com/office/drawing/2014/main" id="{3AE8367E-E842-1E3A-5731-A9AD5666F1A3}"/>
              </a:ext>
            </a:extLst>
          </p:cNvPr>
          <p:cNvSpPr>
            <a:spLocks noGrp="1"/>
          </p:cNvSpPr>
          <p:nvPr>
            <p:ph type="ftr" sz="quarter" idx="11"/>
          </p:nvPr>
        </p:nvSpPr>
        <p:spPr/>
        <p:txBody>
          <a:bodyPr/>
          <a:lstStyle/>
          <a:p>
            <a:endParaRPr lang="en-TW"/>
          </a:p>
        </p:txBody>
      </p:sp>
      <p:sp>
        <p:nvSpPr>
          <p:cNvPr id="4" name="Slide Number Placeholder 3">
            <a:extLst>
              <a:ext uri="{FF2B5EF4-FFF2-40B4-BE49-F238E27FC236}">
                <a16:creationId xmlns:a16="http://schemas.microsoft.com/office/drawing/2014/main" id="{F7F9A46E-B093-7614-F6A9-9C0F4AE78E89}"/>
              </a:ext>
            </a:extLst>
          </p:cNvPr>
          <p:cNvSpPr>
            <a:spLocks noGrp="1"/>
          </p:cNvSpPr>
          <p:nvPr>
            <p:ph type="sldNum" sz="quarter" idx="12"/>
          </p:nvPr>
        </p:nvSpPr>
        <p:spPr/>
        <p:txBody>
          <a:bodyPr/>
          <a:lstStyle/>
          <a:p>
            <a:fld id="{6B5CCE51-2807-9745-A075-4EF89E4FC7DF}" type="slidenum">
              <a:rPr lang="en-TW" smtClean="0"/>
              <a:t>‹#›</a:t>
            </a:fld>
            <a:endParaRPr lang="en-TW"/>
          </a:p>
        </p:txBody>
      </p:sp>
    </p:spTree>
    <p:extLst>
      <p:ext uri="{BB962C8B-B14F-4D97-AF65-F5344CB8AC3E}">
        <p14:creationId xmlns:p14="http://schemas.microsoft.com/office/powerpoint/2010/main" val="21872022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B74B9D-5FB6-4330-9D57-8A1F48D7316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TW"/>
          </a:p>
        </p:txBody>
      </p:sp>
      <p:sp>
        <p:nvSpPr>
          <p:cNvPr id="3" name="Content Placeholder 2">
            <a:extLst>
              <a:ext uri="{FF2B5EF4-FFF2-40B4-BE49-F238E27FC236}">
                <a16:creationId xmlns:a16="http://schemas.microsoft.com/office/drawing/2014/main" id="{0ABF86A3-F4D2-6847-900D-684163AFD68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W"/>
          </a:p>
        </p:txBody>
      </p:sp>
      <p:sp>
        <p:nvSpPr>
          <p:cNvPr id="4" name="Text Placeholder 3">
            <a:extLst>
              <a:ext uri="{FF2B5EF4-FFF2-40B4-BE49-F238E27FC236}">
                <a16:creationId xmlns:a16="http://schemas.microsoft.com/office/drawing/2014/main" id="{EDC4F9FE-ECB3-5C63-3AE7-D6FBCBF805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D6F6A8F-5D09-BCC8-C359-BCE44442FDDB}"/>
              </a:ext>
            </a:extLst>
          </p:cNvPr>
          <p:cNvSpPr>
            <a:spLocks noGrp="1"/>
          </p:cNvSpPr>
          <p:nvPr>
            <p:ph type="dt" sz="half" idx="10"/>
          </p:nvPr>
        </p:nvSpPr>
        <p:spPr/>
        <p:txBody>
          <a:bodyPr/>
          <a:lstStyle/>
          <a:p>
            <a:fld id="{8879CBB5-6B43-9440-9C77-E3AD9C964B8A}" type="datetimeFigureOut">
              <a:rPr lang="en-TW" smtClean="0"/>
              <a:t>2026/10/19</a:t>
            </a:fld>
            <a:endParaRPr lang="en-TW"/>
          </a:p>
        </p:txBody>
      </p:sp>
      <p:sp>
        <p:nvSpPr>
          <p:cNvPr id="6" name="Footer Placeholder 5">
            <a:extLst>
              <a:ext uri="{FF2B5EF4-FFF2-40B4-BE49-F238E27FC236}">
                <a16:creationId xmlns:a16="http://schemas.microsoft.com/office/drawing/2014/main" id="{03161823-E9AF-B54F-A16D-5463A2AB551F}"/>
              </a:ext>
            </a:extLst>
          </p:cNvPr>
          <p:cNvSpPr>
            <a:spLocks noGrp="1"/>
          </p:cNvSpPr>
          <p:nvPr>
            <p:ph type="ftr" sz="quarter" idx="11"/>
          </p:nvPr>
        </p:nvSpPr>
        <p:spPr/>
        <p:txBody>
          <a:bodyPr/>
          <a:lstStyle/>
          <a:p>
            <a:endParaRPr lang="en-TW"/>
          </a:p>
        </p:txBody>
      </p:sp>
      <p:sp>
        <p:nvSpPr>
          <p:cNvPr id="7" name="Slide Number Placeholder 6">
            <a:extLst>
              <a:ext uri="{FF2B5EF4-FFF2-40B4-BE49-F238E27FC236}">
                <a16:creationId xmlns:a16="http://schemas.microsoft.com/office/drawing/2014/main" id="{6A27B682-64C8-5491-AE07-2B8EE1B313EA}"/>
              </a:ext>
            </a:extLst>
          </p:cNvPr>
          <p:cNvSpPr>
            <a:spLocks noGrp="1"/>
          </p:cNvSpPr>
          <p:nvPr>
            <p:ph type="sldNum" sz="quarter" idx="12"/>
          </p:nvPr>
        </p:nvSpPr>
        <p:spPr/>
        <p:txBody>
          <a:bodyPr/>
          <a:lstStyle/>
          <a:p>
            <a:fld id="{6B5CCE51-2807-9745-A075-4EF89E4FC7DF}" type="slidenum">
              <a:rPr lang="en-TW" smtClean="0"/>
              <a:t>‹#›</a:t>
            </a:fld>
            <a:endParaRPr lang="en-TW"/>
          </a:p>
        </p:txBody>
      </p:sp>
    </p:spTree>
    <p:extLst>
      <p:ext uri="{BB962C8B-B14F-4D97-AF65-F5344CB8AC3E}">
        <p14:creationId xmlns:p14="http://schemas.microsoft.com/office/powerpoint/2010/main" val="11395390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E8FA4-A205-5AFF-0AD1-65485440404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TW"/>
          </a:p>
        </p:txBody>
      </p:sp>
      <p:sp>
        <p:nvSpPr>
          <p:cNvPr id="3" name="Picture Placeholder 2">
            <a:extLst>
              <a:ext uri="{FF2B5EF4-FFF2-40B4-BE49-F238E27FC236}">
                <a16:creationId xmlns:a16="http://schemas.microsoft.com/office/drawing/2014/main" id="{4D49977A-B099-2C0E-DF83-AD98FE2EC85F}"/>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TW"/>
          </a:p>
        </p:txBody>
      </p:sp>
      <p:sp>
        <p:nvSpPr>
          <p:cNvPr id="4" name="Text Placeholder 3">
            <a:extLst>
              <a:ext uri="{FF2B5EF4-FFF2-40B4-BE49-F238E27FC236}">
                <a16:creationId xmlns:a16="http://schemas.microsoft.com/office/drawing/2014/main" id="{6E5B80F9-71AB-38D6-F16A-A84B9757ED1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3240F75-4EDB-0E23-50F0-D1CDD88710F3}"/>
              </a:ext>
            </a:extLst>
          </p:cNvPr>
          <p:cNvSpPr>
            <a:spLocks noGrp="1"/>
          </p:cNvSpPr>
          <p:nvPr>
            <p:ph type="dt" sz="half" idx="10"/>
          </p:nvPr>
        </p:nvSpPr>
        <p:spPr/>
        <p:txBody>
          <a:bodyPr/>
          <a:lstStyle/>
          <a:p>
            <a:fld id="{8879CBB5-6B43-9440-9C77-E3AD9C964B8A}" type="datetimeFigureOut">
              <a:rPr lang="en-TW" smtClean="0"/>
              <a:t>2026/10/19</a:t>
            </a:fld>
            <a:endParaRPr lang="en-TW"/>
          </a:p>
        </p:txBody>
      </p:sp>
      <p:sp>
        <p:nvSpPr>
          <p:cNvPr id="6" name="Footer Placeholder 5">
            <a:extLst>
              <a:ext uri="{FF2B5EF4-FFF2-40B4-BE49-F238E27FC236}">
                <a16:creationId xmlns:a16="http://schemas.microsoft.com/office/drawing/2014/main" id="{2174CF7F-F311-95B6-397C-5590A925D0A5}"/>
              </a:ext>
            </a:extLst>
          </p:cNvPr>
          <p:cNvSpPr>
            <a:spLocks noGrp="1"/>
          </p:cNvSpPr>
          <p:nvPr>
            <p:ph type="ftr" sz="quarter" idx="11"/>
          </p:nvPr>
        </p:nvSpPr>
        <p:spPr/>
        <p:txBody>
          <a:bodyPr/>
          <a:lstStyle/>
          <a:p>
            <a:endParaRPr lang="en-TW"/>
          </a:p>
        </p:txBody>
      </p:sp>
      <p:sp>
        <p:nvSpPr>
          <p:cNvPr id="7" name="Slide Number Placeholder 6">
            <a:extLst>
              <a:ext uri="{FF2B5EF4-FFF2-40B4-BE49-F238E27FC236}">
                <a16:creationId xmlns:a16="http://schemas.microsoft.com/office/drawing/2014/main" id="{8793581B-8885-D655-18C3-AB3193A29A44}"/>
              </a:ext>
            </a:extLst>
          </p:cNvPr>
          <p:cNvSpPr>
            <a:spLocks noGrp="1"/>
          </p:cNvSpPr>
          <p:nvPr>
            <p:ph type="sldNum" sz="quarter" idx="12"/>
          </p:nvPr>
        </p:nvSpPr>
        <p:spPr/>
        <p:txBody>
          <a:bodyPr/>
          <a:lstStyle/>
          <a:p>
            <a:fld id="{6B5CCE51-2807-9745-A075-4EF89E4FC7DF}" type="slidenum">
              <a:rPr lang="en-TW" smtClean="0"/>
              <a:t>‹#›</a:t>
            </a:fld>
            <a:endParaRPr lang="en-TW"/>
          </a:p>
        </p:txBody>
      </p:sp>
    </p:spTree>
    <p:extLst>
      <p:ext uri="{BB962C8B-B14F-4D97-AF65-F5344CB8AC3E}">
        <p14:creationId xmlns:p14="http://schemas.microsoft.com/office/powerpoint/2010/main" val="41593783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7B2ED9-4E89-15DD-8EAE-E858DBF1CE9A}"/>
              </a:ext>
            </a:extLst>
          </p:cNvPr>
          <p:cNvSpPr>
            <a:spLocks noGrp="1"/>
          </p:cNvSpPr>
          <p:nvPr>
            <p:ph type="title"/>
          </p:nvPr>
        </p:nvSpPr>
        <p:spPr/>
        <p:txBody>
          <a:bodyPr/>
          <a:lstStyle/>
          <a:p>
            <a:r>
              <a:rPr lang="en-US"/>
              <a:t>Click to edit Master title style</a:t>
            </a:r>
            <a:endParaRPr lang="en-TW"/>
          </a:p>
        </p:txBody>
      </p:sp>
      <p:sp>
        <p:nvSpPr>
          <p:cNvPr id="3" name="Vertical Text Placeholder 2">
            <a:extLst>
              <a:ext uri="{FF2B5EF4-FFF2-40B4-BE49-F238E27FC236}">
                <a16:creationId xmlns:a16="http://schemas.microsoft.com/office/drawing/2014/main" id="{8CEF16BA-040B-0012-A936-DE77235DD82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W"/>
          </a:p>
        </p:txBody>
      </p:sp>
      <p:sp>
        <p:nvSpPr>
          <p:cNvPr id="4" name="Date Placeholder 3">
            <a:extLst>
              <a:ext uri="{FF2B5EF4-FFF2-40B4-BE49-F238E27FC236}">
                <a16:creationId xmlns:a16="http://schemas.microsoft.com/office/drawing/2014/main" id="{F1AFEBD2-E560-7596-D30D-F31F3E84358D}"/>
              </a:ext>
            </a:extLst>
          </p:cNvPr>
          <p:cNvSpPr>
            <a:spLocks noGrp="1"/>
          </p:cNvSpPr>
          <p:nvPr>
            <p:ph type="dt" sz="half" idx="10"/>
          </p:nvPr>
        </p:nvSpPr>
        <p:spPr/>
        <p:txBody>
          <a:bodyPr/>
          <a:lstStyle/>
          <a:p>
            <a:fld id="{8879CBB5-6B43-9440-9C77-E3AD9C964B8A}" type="datetimeFigureOut">
              <a:rPr lang="en-TW" smtClean="0"/>
              <a:t>2026/10/19</a:t>
            </a:fld>
            <a:endParaRPr lang="en-TW"/>
          </a:p>
        </p:txBody>
      </p:sp>
      <p:sp>
        <p:nvSpPr>
          <p:cNvPr id="5" name="Footer Placeholder 4">
            <a:extLst>
              <a:ext uri="{FF2B5EF4-FFF2-40B4-BE49-F238E27FC236}">
                <a16:creationId xmlns:a16="http://schemas.microsoft.com/office/drawing/2014/main" id="{BD2E9E34-4E37-8D01-2867-388E9686212D}"/>
              </a:ext>
            </a:extLst>
          </p:cNvPr>
          <p:cNvSpPr>
            <a:spLocks noGrp="1"/>
          </p:cNvSpPr>
          <p:nvPr>
            <p:ph type="ftr" sz="quarter" idx="11"/>
          </p:nvPr>
        </p:nvSpPr>
        <p:spPr/>
        <p:txBody>
          <a:bodyPr/>
          <a:lstStyle/>
          <a:p>
            <a:endParaRPr lang="en-TW"/>
          </a:p>
        </p:txBody>
      </p:sp>
      <p:sp>
        <p:nvSpPr>
          <p:cNvPr id="6" name="Slide Number Placeholder 5">
            <a:extLst>
              <a:ext uri="{FF2B5EF4-FFF2-40B4-BE49-F238E27FC236}">
                <a16:creationId xmlns:a16="http://schemas.microsoft.com/office/drawing/2014/main" id="{BAAD9DE6-3592-CF2C-D4E5-9C73734F5478}"/>
              </a:ext>
            </a:extLst>
          </p:cNvPr>
          <p:cNvSpPr>
            <a:spLocks noGrp="1"/>
          </p:cNvSpPr>
          <p:nvPr>
            <p:ph type="sldNum" sz="quarter" idx="12"/>
          </p:nvPr>
        </p:nvSpPr>
        <p:spPr/>
        <p:txBody>
          <a:bodyPr/>
          <a:lstStyle/>
          <a:p>
            <a:fld id="{6B5CCE51-2807-9745-A075-4EF89E4FC7DF}" type="slidenum">
              <a:rPr lang="en-TW" smtClean="0"/>
              <a:t>‹#›</a:t>
            </a:fld>
            <a:endParaRPr lang="en-TW"/>
          </a:p>
        </p:txBody>
      </p:sp>
    </p:spTree>
    <p:extLst>
      <p:ext uri="{BB962C8B-B14F-4D97-AF65-F5344CB8AC3E}">
        <p14:creationId xmlns:p14="http://schemas.microsoft.com/office/powerpoint/2010/main" val="21421057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445DB60-358D-594F-F838-6B2C722B138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TW"/>
          </a:p>
        </p:txBody>
      </p:sp>
      <p:sp>
        <p:nvSpPr>
          <p:cNvPr id="3" name="Vertical Text Placeholder 2">
            <a:extLst>
              <a:ext uri="{FF2B5EF4-FFF2-40B4-BE49-F238E27FC236}">
                <a16:creationId xmlns:a16="http://schemas.microsoft.com/office/drawing/2014/main" id="{74E8A127-471F-B3BF-CD60-87570EC9F10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W"/>
          </a:p>
        </p:txBody>
      </p:sp>
      <p:sp>
        <p:nvSpPr>
          <p:cNvPr id="4" name="Date Placeholder 3">
            <a:extLst>
              <a:ext uri="{FF2B5EF4-FFF2-40B4-BE49-F238E27FC236}">
                <a16:creationId xmlns:a16="http://schemas.microsoft.com/office/drawing/2014/main" id="{E5485BAF-179B-A11F-C58A-702C3504E340}"/>
              </a:ext>
            </a:extLst>
          </p:cNvPr>
          <p:cNvSpPr>
            <a:spLocks noGrp="1"/>
          </p:cNvSpPr>
          <p:nvPr>
            <p:ph type="dt" sz="half" idx="10"/>
          </p:nvPr>
        </p:nvSpPr>
        <p:spPr/>
        <p:txBody>
          <a:bodyPr/>
          <a:lstStyle/>
          <a:p>
            <a:fld id="{8879CBB5-6B43-9440-9C77-E3AD9C964B8A}" type="datetimeFigureOut">
              <a:rPr lang="en-TW" smtClean="0"/>
              <a:t>2026/10/19</a:t>
            </a:fld>
            <a:endParaRPr lang="en-TW"/>
          </a:p>
        </p:txBody>
      </p:sp>
      <p:sp>
        <p:nvSpPr>
          <p:cNvPr id="5" name="Footer Placeholder 4">
            <a:extLst>
              <a:ext uri="{FF2B5EF4-FFF2-40B4-BE49-F238E27FC236}">
                <a16:creationId xmlns:a16="http://schemas.microsoft.com/office/drawing/2014/main" id="{EDA9E0CA-B274-5450-A2ED-629D44FBAB44}"/>
              </a:ext>
            </a:extLst>
          </p:cNvPr>
          <p:cNvSpPr>
            <a:spLocks noGrp="1"/>
          </p:cNvSpPr>
          <p:nvPr>
            <p:ph type="ftr" sz="quarter" idx="11"/>
          </p:nvPr>
        </p:nvSpPr>
        <p:spPr/>
        <p:txBody>
          <a:bodyPr/>
          <a:lstStyle/>
          <a:p>
            <a:endParaRPr lang="en-TW"/>
          </a:p>
        </p:txBody>
      </p:sp>
      <p:sp>
        <p:nvSpPr>
          <p:cNvPr id="6" name="Slide Number Placeholder 5">
            <a:extLst>
              <a:ext uri="{FF2B5EF4-FFF2-40B4-BE49-F238E27FC236}">
                <a16:creationId xmlns:a16="http://schemas.microsoft.com/office/drawing/2014/main" id="{D5AE1AC9-9410-B122-6142-0D161F5773B5}"/>
              </a:ext>
            </a:extLst>
          </p:cNvPr>
          <p:cNvSpPr>
            <a:spLocks noGrp="1"/>
          </p:cNvSpPr>
          <p:nvPr>
            <p:ph type="sldNum" sz="quarter" idx="12"/>
          </p:nvPr>
        </p:nvSpPr>
        <p:spPr/>
        <p:txBody>
          <a:bodyPr/>
          <a:lstStyle/>
          <a:p>
            <a:fld id="{6B5CCE51-2807-9745-A075-4EF89E4FC7DF}" type="slidenum">
              <a:rPr lang="en-TW" smtClean="0"/>
              <a:t>‹#›</a:t>
            </a:fld>
            <a:endParaRPr lang="en-TW"/>
          </a:p>
        </p:txBody>
      </p:sp>
    </p:spTree>
    <p:extLst>
      <p:ext uri="{BB962C8B-B14F-4D97-AF65-F5344CB8AC3E}">
        <p14:creationId xmlns:p14="http://schemas.microsoft.com/office/powerpoint/2010/main" val="5080567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Title and body">
    <p:bg>
      <p:bgPr>
        <a:solidFill>
          <a:srgbClr val="FAFAF7"/>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9779000" cy="472504"/>
          </a:xfrm>
          <a:prstGeom prst="rect">
            <a:avLst/>
          </a:prstGeom>
          <a:noFill/>
          <a:ln/>
        </p:spPr>
        <p:txBody>
          <a:bodyPr wrap="square" lIns="0" tIns="0" rIns="0" bIns="0" rtlCol="0" anchor="t"/>
          <a:lstStyle>
            <a:lvl1pPr marL="0" indent="0" algn="l">
              <a:lnSpc>
                <a:spcPct val="115000"/>
              </a:lnSpc>
              <a:buNone/>
              <a:defRPr lang="en-US" sz="2198" dirty="0">
                <a:solidFill>
                  <a:srgbClr val="14202E"/>
                </a:solidFill>
                <a:latin typeface="Georgia" pitchFamily="34" charset="0"/>
                <a:ea typeface="Georgia" pitchFamily="34" charset="-122"/>
                <a:cs typeface="Georgia" pitchFamily="34" charset="-120"/>
              </a:defRPr>
            </a:lvl1pPr>
          </a:lstStyle>
          <a:p>
            <a:pPr marL="0" indent="0" algn="l">
              <a:lnSpc>
                <a:spcPct val="115000"/>
              </a:lnSpc>
              <a:buNone/>
            </a:pPr>
            <a:endParaRPr lang="en-US" sz="2198" dirty="0"/>
          </a:p>
        </p:txBody>
      </p:sp>
      <p:sp>
        <p:nvSpPr>
          <p:cNvPr id="3" name="Text Placeholder 2"/>
          <p:cNvSpPr>
            <a:spLocks noGrp="1"/>
          </p:cNvSpPr>
          <p:nvPr>
            <p:ph type="body" idx="101"/>
          </p:nvPr>
        </p:nvSpPr>
        <p:spPr>
          <a:xfrm>
            <a:off x="812800" y="1590104"/>
            <a:ext cx="10566400" cy="4455096"/>
          </a:xfrm>
          <a:prstGeom prst="rect">
            <a:avLst/>
          </a:prstGeom>
          <a:noFill/>
          <a:ln/>
        </p:spPr>
        <p:txBody>
          <a:bodyPr wrap="square" lIns="0" tIns="0" rIns="0" bIns="0" rtlCol="0" anchor="t"/>
          <a:lstStyle>
            <a:lvl1pPr marL="0" indent="0" algn="l">
              <a:lnSpc>
                <a:spcPct val="140000"/>
              </a:lnSpc>
              <a:buNone/>
              <a:defRPr lang="en-US" sz="1600" dirty="0">
                <a:solidFill>
                  <a:srgbClr val="14202E"/>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extLst>
      <p:ext uri="{BB962C8B-B14F-4D97-AF65-F5344CB8AC3E}">
        <p14:creationId xmlns:p14="http://schemas.microsoft.com/office/powerpoint/2010/main" val="1756695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13EC0F6-62C6-2FC6-CFA2-131DB23EFB5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TW"/>
          </a:p>
        </p:txBody>
      </p:sp>
      <p:sp>
        <p:nvSpPr>
          <p:cNvPr id="3" name="Text Placeholder 2">
            <a:extLst>
              <a:ext uri="{FF2B5EF4-FFF2-40B4-BE49-F238E27FC236}">
                <a16:creationId xmlns:a16="http://schemas.microsoft.com/office/drawing/2014/main" id="{E823A795-E310-541B-5244-E3D9CD1AFC1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W"/>
          </a:p>
        </p:txBody>
      </p:sp>
      <p:sp>
        <p:nvSpPr>
          <p:cNvPr id="4" name="Date Placeholder 3">
            <a:extLst>
              <a:ext uri="{FF2B5EF4-FFF2-40B4-BE49-F238E27FC236}">
                <a16:creationId xmlns:a16="http://schemas.microsoft.com/office/drawing/2014/main" id="{F6DD9DF2-725D-3294-FEE5-B484B20483A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879CBB5-6B43-9440-9C77-E3AD9C964B8A}" type="datetimeFigureOut">
              <a:rPr lang="en-TW" smtClean="0"/>
              <a:t>2026/10/19</a:t>
            </a:fld>
            <a:endParaRPr lang="en-TW"/>
          </a:p>
        </p:txBody>
      </p:sp>
      <p:sp>
        <p:nvSpPr>
          <p:cNvPr id="5" name="Footer Placeholder 4">
            <a:extLst>
              <a:ext uri="{FF2B5EF4-FFF2-40B4-BE49-F238E27FC236}">
                <a16:creationId xmlns:a16="http://schemas.microsoft.com/office/drawing/2014/main" id="{01CFA188-0811-35AA-2C52-7AFA37444A4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TW"/>
          </a:p>
        </p:txBody>
      </p:sp>
      <p:sp>
        <p:nvSpPr>
          <p:cNvPr id="6" name="Slide Number Placeholder 5">
            <a:extLst>
              <a:ext uri="{FF2B5EF4-FFF2-40B4-BE49-F238E27FC236}">
                <a16:creationId xmlns:a16="http://schemas.microsoft.com/office/drawing/2014/main" id="{E52E04DB-5367-033F-FD6A-C6530FB6C24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B5CCE51-2807-9745-A075-4EF89E4FC7DF}" type="slidenum">
              <a:rPr lang="en-TW" smtClean="0"/>
              <a:t>‹#›</a:t>
            </a:fld>
            <a:endParaRPr lang="en-TW"/>
          </a:p>
        </p:txBody>
      </p:sp>
    </p:spTree>
    <p:extLst>
      <p:ext uri="{BB962C8B-B14F-4D97-AF65-F5344CB8AC3E}">
        <p14:creationId xmlns:p14="http://schemas.microsoft.com/office/powerpoint/2010/main" val="42592669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AA48D-D6D7-D922-0846-7E7658AA24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F0D32C-4C75-A45D-DC30-0029F48E89E3}"/>
              </a:ext>
            </a:extLst>
          </p:cNvPr>
          <p:cNvSpPr>
            <a:spLocks noGrp="1"/>
          </p:cNvSpPr>
          <p:nvPr>
            <p:ph type="title"/>
          </p:nvPr>
        </p:nvSpPr>
        <p:spPr>
          <a:xfrm>
            <a:off x="852469" y="812800"/>
            <a:ext cx="10487062" cy="777304"/>
          </a:xfrm>
        </p:spPr>
        <p:txBody>
          <a:bodyPr/>
          <a:lstStyle/>
          <a:p>
            <a:pPr algn="ctr"/>
            <a:r>
              <a:rPr lang="en-US" sz="4000" b="1" dirty="0">
                <a:solidFill>
                  <a:schemeClr val="tx1"/>
                </a:solidFill>
                <a:latin typeface="Georgia" pitchFamily="18" charset="0"/>
                <a:ea typeface="Georgia" pitchFamily="18" charset="-122"/>
                <a:cs typeface="Georgia" pitchFamily="18" charset="-120"/>
              </a:rPr>
              <a:t>Baseline selection and pseudo-labelling</a:t>
            </a:r>
            <a:endParaRPr lang="en-TW" sz="3600" dirty="0">
              <a:solidFill>
                <a:schemeClr val="tx1"/>
              </a:solidFill>
            </a:endParaRPr>
          </a:p>
        </p:txBody>
      </p:sp>
      <p:sp>
        <p:nvSpPr>
          <p:cNvPr id="3" name="Text Placeholder 2">
            <a:extLst>
              <a:ext uri="{FF2B5EF4-FFF2-40B4-BE49-F238E27FC236}">
                <a16:creationId xmlns:a16="http://schemas.microsoft.com/office/drawing/2014/main" id="{CCC65602-B034-854B-967C-886156C81715}"/>
              </a:ext>
            </a:extLst>
          </p:cNvPr>
          <p:cNvSpPr>
            <a:spLocks noGrp="1"/>
          </p:cNvSpPr>
          <p:nvPr>
            <p:ph type="body" idx="101"/>
          </p:nvPr>
        </p:nvSpPr>
        <p:spPr>
          <a:xfrm>
            <a:off x="2084832" y="2202628"/>
            <a:ext cx="8168639" cy="2657471"/>
          </a:xfrm>
        </p:spPr>
        <p:txBody>
          <a:bodyPr>
            <a:normAutofit/>
          </a:bodyPr>
          <a:lstStyle/>
          <a:p>
            <a:pPr>
              <a:lnSpc>
                <a:spcPts val="2160"/>
              </a:lnSpc>
            </a:pPr>
            <a:endParaRPr lang="en-US" b="1" dirty="0">
              <a:solidFill>
                <a:schemeClr val="tx1"/>
              </a:solidFill>
              <a:latin typeface="Georgia" pitchFamily="18" charset="0"/>
              <a:ea typeface="Georgia" pitchFamily="18" charset="-122"/>
              <a:cs typeface="Georgia" pitchFamily="18" charset="-120"/>
            </a:endParaRPr>
          </a:p>
          <a:p>
            <a:pPr marL="285750" indent="-285750">
              <a:lnSpc>
                <a:spcPct val="150000"/>
              </a:lnSpc>
              <a:buFont typeface="Arial" panose="020B0604020202020204" pitchFamily="34" charset="0"/>
              <a:buChar char="•"/>
            </a:pPr>
            <a:r>
              <a:rPr lang="en-TW" b="1" dirty="0">
                <a:solidFill>
                  <a:schemeClr val="tx1"/>
                </a:solidFill>
                <a:latin typeface="Georgia" pitchFamily="18" charset="0"/>
              </a:rPr>
              <a:t>1.1 Widened U-Net</a:t>
            </a:r>
            <a:endParaRPr lang="en-US" b="1" dirty="0">
              <a:solidFill>
                <a:schemeClr val="tx1"/>
              </a:solidFill>
              <a:latin typeface="Georgia" pitchFamily="18" charset="0"/>
            </a:endParaRPr>
          </a:p>
          <a:p>
            <a:pPr marL="285750" indent="-285750">
              <a:buFont typeface="Arial" panose="020B0604020202020204" pitchFamily="34" charset="0"/>
              <a:buChar char="•"/>
            </a:pPr>
            <a:r>
              <a:rPr lang="en-TW" b="1" dirty="0">
                <a:solidFill>
                  <a:schemeClr val="tx1"/>
                </a:solidFill>
                <a:latin typeface="Georgia" pitchFamily="18" charset="0"/>
              </a:rPr>
              <a:t>1.2 USCL initialisation</a:t>
            </a:r>
          </a:p>
          <a:p>
            <a:pPr marL="285750" indent="-285750">
              <a:buFont typeface="Arial" panose="020B0604020202020204" pitchFamily="34" charset="0"/>
              <a:buChar char="•"/>
            </a:pPr>
            <a:r>
              <a:rPr lang="en-TW" b="1" dirty="0">
                <a:solidFill>
                  <a:schemeClr val="tx1"/>
                </a:solidFill>
                <a:latin typeface="Georgia" pitchFamily="18" charset="0"/>
              </a:rPr>
              <a:t>2.1 / 2.2 Collapse: learning rate or underfitting?</a:t>
            </a:r>
          </a:p>
        </p:txBody>
      </p:sp>
    </p:spTree>
    <p:extLst>
      <p:ext uri="{BB962C8B-B14F-4D97-AF65-F5344CB8AC3E}">
        <p14:creationId xmlns:p14="http://schemas.microsoft.com/office/powerpoint/2010/main" val="41880890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3156D-4DD6-45D0-7C80-7114012D53E4}"/>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ADA0090A-51FE-7313-7A7A-F1D51DF9013D}"/>
              </a:ext>
            </a:extLst>
          </p:cNvPr>
          <p:cNvGraphicFramePr>
            <a:graphicFrameLocks noGrp="1"/>
          </p:cNvGraphicFramePr>
          <p:nvPr>
            <p:extLst>
              <p:ext uri="{D42A27DB-BD31-4B8C-83A1-F6EECF244321}">
                <p14:modId xmlns:p14="http://schemas.microsoft.com/office/powerpoint/2010/main" val="1376975582"/>
              </p:ext>
            </p:extLst>
          </p:nvPr>
        </p:nvGraphicFramePr>
        <p:xfrm>
          <a:off x="1383770" y="1470340"/>
          <a:ext cx="8497531" cy="3088048"/>
        </p:xfrm>
        <a:graphic>
          <a:graphicData uri="http://schemas.openxmlformats.org/drawingml/2006/table">
            <a:tbl>
              <a:tblPr firstRow="1" bandRow="1">
                <a:tableStyleId>{5C22544A-7EE6-4342-B048-85BDC9FD1C3A}</a:tableStyleId>
              </a:tblPr>
              <a:tblGrid>
                <a:gridCol w="1928673">
                  <a:extLst>
                    <a:ext uri="{9D8B030D-6E8A-4147-A177-3AD203B41FA5}">
                      <a16:colId xmlns:a16="http://schemas.microsoft.com/office/drawing/2014/main" val="3177161510"/>
                    </a:ext>
                  </a:extLst>
                </a:gridCol>
                <a:gridCol w="1884877">
                  <a:extLst>
                    <a:ext uri="{9D8B030D-6E8A-4147-A177-3AD203B41FA5}">
                      <a16:colId xmlns:a16="http://schemas.microsoft.com/office/drawing/2014/main" val="1664566838"/>
                    </a:ext>
                  </a:extLst>
                </a:gridCol>
                <a:gridCol w="2890526">
                  <a:extLst>
                    <a:ext uri="{9D8B030D-6E8A-4147-A177-3AD203B41FA5}">
                      <a16:colId xmlns:a16="http://schemas.microsoft.com/office/drawing/2014/main" val="1032186011"/>
                    </a:ext>
                  </a:extLst>
                </a:gridCol>
                <a:gridCol w="1793455">
                  <a:extLst>
                    <a:ext uri="{9D8B030D-6E8A-4147-A177-3AD203B41FA5}">
                      <a16:colId xmlns:a16="http://schemas.microsoft.com/office/drawing/2014/main" val="4278696763"/>
                    </a:ext>
                  </a:extLst>
                </a:gridCol>
              </a:tblGrid>
              <a:tr h="308140">
                <a:tc>
                  <a:txBody>
                    <a:bodyPr/>
                    <a:lstStyle/>
                    <a:p>
                      <a:pPr marL="0" algn="l" defTabSz="914400" rtl="0" eaLnBrk="1" latinLnBrk="0" hangingPunct="1">
                        <a:buNone/>
                      </a:pPr>
                      <a:r>
                        <a:rPr lang="en-TW" sz="1800" b="1" kern="1200" dirty="0">
                          <a:solidFill>
                            <a:schemeClr val="dk1"/>
                          </a:solidFill>
                        </a:rPr>
                        <a:t>Model</a:t>
                      </a:r>
                      <a:endParaRPr lang="en-TW" sz="1800" b="1" kern="1200" dirty="0">
                        <a:solidFill>
                          <a:schemeClr val="dk1"/>
                        </a:solidFill>
                        <a:latin typeface="+mn-lt"/>
                        <a:ea typeface="+mn-ea"/>
                        <a:cs typeface="+mn-cs"/>
                      </a:endParaRPr>
                    </a:p>
                  </a:txBody>
                  <a:tcPr anchor="ctr"/>
                </a:tc>
                <a:tc>
                  <a:txBody>
                    <a:bodyPr/>
                    <a:lstStyle/>
                    <a:p>
                      <a:pPr marL="0" algn="l" defTabSz="914400" rtl="0" eaLnBrk="1" latinLnBrk="0" hangingPunct="1">
                        <a:buNone/>
                      </a:pPr>
                      <a:r>
                        <a:rPr lang="en-TW" sz="1800" b="1" kern="1200" dirty="0">
                          <a:solidFill>
                            <a:schemeClr val="dk1"/>
                          </a:solidFill>
                        </a:rPr>
                        <a:t>Params</a:t>
                      </a:r>
                      <a:endParaRPr lang="en-TW" sz="1800" b="1" kern="1200" dirty="0">
                        <a:solidFill>
                          <a:schemeClr val="dk1"/>
                        </a:solidFill>
                        <a:latin typeface="+mn-lt"/>
                        <a:ea typeface="+mn-ea"/>
                        <a:cs typeface="+mn-cs"/>
                      </a:endParaRPr>
                    </a:p>
                  </a:txBody>
                  <a:tcPr anchor="ctr"/>
                </a:tc>
                <a:tc>
                  <a:txBody>
                    <a:bodyPr/>
                    <a:lstStyle/>
                    <a:p>
                      <a:pPr marL="0" algn="l" defTabSz="914400" rtl="0" eaLnBrk="1" latinLnBrk="0" hangingPunct="1">
                        <a:buNone/>
                      </a:pPr>
                      <a:r>
                        <a:rPr lang="en-TW" sz="1800" b="1" kern="1200" dirty="0">
                          <a:solidFill>
                            <a:schemeClr val="dk1"/>
                          </a:solidFill>
                        </a:rPr>
                        <a:t>Dice (5-fold, TN3K test)</a:t>
                      </a:r>
                      <a:endParaRPr lang="en-TW" sz="1800" b="1" kern="1200" dirty="0">
                        <a:solidFill>
                          <a:schemeClr val="dk1"/>
                        </a:solidFill>
                        <a:latin typeface="+mn-lt"/>
                        <a:ea typeface="+mn-ea"/>
                        <a:cs typeface="+mn-cs"/>
                      </a:endParaRPr>
                    </a:p>
                  </a:txBody>
                  <a:tcPr anchor="ctr"/>
                </a:tc>
                <a:tc>
                  <a:txBody>
                    <a:bodyPr/>
                    <a:lstStyle/>
                    <a:p>
                      <a:pPr marL="0" algn="l" defTabSz="914400" rtl="0" eaLnBrk="1" latinLnBrk="0" hangingPunct="1">
                        <a:buNone/>
                      </a:pPr>
                      <a:r>
                        <a:rPr lang="en-TW" sz="1800" b="1" kern="1200" dirty="0">
                          <a:solidFill>
                            <a:schemeClr val="dk1"/>
                          </a:solidFill>
                        </a:rPr>
                        <a:t>IoU</a:t>
                      </a:r>
                      <a:endParaRPr lang="en-TW" sz="1800" b="1" kern="1200" dirty="0">
                        <a:solidFill>
                          <a:schemeClr val="dk1"/>
                        </a:solidFill>
                        <a:latin typeface="+mn-lt"/>
                        <a:ea typeface="+mn-ea"/>
                        <a:cs typeface="+mn-cs"/>
                      </a:endParaRPr>
                    </a:p>
                  </a:txBody>
                  <a:tcPr anchor="ctr"/>
                </a:tc>
                <a:extLst>
                  <a:ext uri="{0D108BD9-81ED-4DB2-BD59-A6C34878D82A}">
                    <a16:rowId xmlns:a16="http://schemas.microsoft.com/office/drawing/2014/main" val="2032940116"/>
                  </a:ext>
                </a:extLst>
              </a:tr>
              <a:tr h="519988">
                <a:tc>
                  <a:txBody>
                    <a:bodyPr/>
                    <a:lstStyle/>
                    <a:p>
                      <a:pPr marL="0" algn="l" defTabSz="914400" rtl="0" eaLnBrk="1" latinLnBrk="0" hangingPunct="1">
                        <a:buNone/>
                      </a:pPr>
                      <a:r>
                        <a:rPr lang="en-TW" sz="1600" b="0" kern="1200" dirty="0">
                          <a:solidFill>
                            <a:schemeClr val="dk1"/>
                          </a:solidFill>
                        </a:rPr>
                        <a:t>U-Net</a:t>
                      </a:r>
                      <a:endParaRPr lang="en-TW" sz="1600" b="0" kern="1200" dirty="0">
                        <a:solidFill>
                          <a:schemeClr val="dk1"/>
                        </a:solidFill>
                        <a:latin typeface="+mn-lt"/>
                        <a:ea typeface="+mn-ea"/>
                        <a:cs typeface="+mn-cs"/>
                      </a:endParaRPr>
                    </a:p>
                  </a:txBody>
                  <a:tcPr anchor="ctr"/>
                </a:tc>
                <a:tc>
                  <a:txBody>
                    <a:bodyPr/>
                    <a:lstStyle/>
                    <a:p>
                      <a:pPr marL="0" algn="l" defTabSz="914400" rtl="0" eaLnBrk="1" latinLnBrk="0" hangingPunct="1">
                        <a:buNone/>
                      </a:pPr>
                      <a:r>
                        <a:rPr lang="en-TW" sz="1600" b="0" kern="1200" dirty="0">
                          <a:solidFill>
                            <a:schemeClr val="dk1"/>
                          </a:solidFill>
                        </a:rPr>
                        <a:t>31.04 M</a:t>
                      </a:r>
                      <a:endParaRPr lang="en-TW" sz="1600" b="0" kern="1200" dirty="0">
                        <a:solidFill>
                          <a:schemeClr val="dk1"/>
                        </a:solidFill>
                        <a:latin typeface="+mn-lt"/>
                        <a:ea typeface="+mn-ea"/>
                        <a:cs typeface="+mn-cs"/>
                      </a:endParaRPr>
                    </a:p>
                  </a:txBody>
                  <a:tcPr anchor="ctr"/>
                </a:tc>
                <a:tc>
                  <a:txBody>
                    <a:bodyPr/>
                    <a:lstStyle/>
                    <a:p>
                      <a:pPr marL="0" algn="l" defTabSz="914400" rtl="0" eaLnBrk="1" latinLnBrk="0" hangingPunct="1">
                        <a:buNone/>
                      </a:pPr>
                      <a:r>
                        <a:rPr lang="en-TW" sz="1600" b="0" kern="1200" dirty="0">
                          <a:solidFill>
                            <a:schemeClr val="dk1"/>
                          </a:solidFill>
                        </a:rPr>
                        <a:t>0.7812 ± 0.0068</a:t>
                      </a:r>
                      <a:endParaRPr lang="en-TW" sz="1600" b="0" kern="1200" dirty="0">
                        <a:solidFill>
                          <a:schemeClr val="dk1"/>
                        </a:solidFill>
                        <a:latin typeface="+mn-lt"/>
                        <a:ea typeface="+mn-ea"/>
                        <a:cs typeface="+mn-cs"/>
                      </a:endParaRPr>
                    </a:p>
                  </a:txBody>
                  <a:tcPr anchor="ctr"/>
                </a:tc>
                <a:tc>
                  <a:txBody>
                    <a:bodyPr/>
                    <a:lstStyle/>
                    <a:p>
                      <a:pPr marL="0" algn="l" defTabSz="914400" rtl="0" eaLnBrk="1" latinLnBrk="0" hangingPunct="1">
                        <a:buNone/>
                      </a:pPr>
                      <a:r>
                        <a:rPr lang="en-TW" sz="1600" b="0" kern="1200" dirty="0">
                          <a:solidFill>
                            <a:schemeClr val="dk1"/>
                          </a:solidFill>
                        </a:rPr>
                        <a:t>0.6834</a:t>
                      </a:r>
                      <a:endParaRPr lang="en-TW" sz="1600" b="0" kern="1200" dirty="0">
                        <a:solidFill>
                          <a:schemeClr val="dk1"/>
                        </a:solidFill>
                        <a:latin typeface="+mn-lt"/>
                        <a:ea typeface="+mn-ea"/>
                        <a:cs typeface="+mn-cs"/>
                      </a:endParaRPr>
                    </a:p>
                  </a:txBody>
                  <a:tcPr anchor="ctr"/>
                </a:tc>
                <a:extLst>
                  <a:ext uri="{0D108BD9-81ED-4DB2-BD59-A6C34878D82A}">
                    <a16:rowId xmlns:a16="http://schemas.microsoft.com/office/drawing/2014/main" val="433355838"/>
                  </a:ext>
                </a:extLst>
              </a:tr>
              <a:tr h="734100">
                <a:tc>
                  <a:txBody>
                    <a:bodyPr/>
                    <a:lstStyle/>
                    <a:p>
                      <a:pPr marL="0" algn="l" defTabSz="914400" rtl="0" eaLnBrk="1" latinLnBrk="0" hangingPunct="1">
                        <a:buNone/>
                      </a:pPr>
                      <a:r>
                        <a:rPr lang="en-TW" sz="1600" b="0" kern="1200" dirty="0">
                          <a:solidFill>
                            <a:schemeClr val="dk1"/>
                          </a:solidFill>
                        </a:rPr>
                        <a:t>U-Net widened</a:t>
                      </a:r>
                      <a:endParaRPr lang="en-TW" sz="1600" b="0" kern="1200" dirty="0">
                        <a:solidFill>
                          <a:schemeClr val="dk1"/>
                        </a:solidFill>
                        <a:latin typeface="+mn-lt"/>
                        <a:ea typeface="+mn-ea"/>
                        <a:cs typeface="+mn-cs"/>
                      </a:endParaRPr>
                    </a:p>
                  </a:txBody>
                  <a:tcPr anchor="ctr"/>
                </a:tc>
                <a:tc>
                  <a:txBody>
                    <a:bodyPr/>
                    <a:lstStyle/>
                    <a:p>
                      <a:pPr marL="0" algn="l" defTabSz="914400" rtl="0" eaLnBrk="1" latinLnBrk="0" hangingPunct="1">
                        <a:buNone/>
                      </a:pPr>
                      <a:r>
                        <a:rPr lang="en-TW" sz="1600" b="0" kern="1200" dirty="0">
                          <a:solidFill>
                            <a:schemeClr val="dk1"/>
                          </a:solidFill>
                        </a:rPr>
                        <a:t>43.77 M</a:t>
                      </a:r>
                      <a:endParaRPr lang="en-TW" sz="1600" b="0" kern="1200" dirty="0">
                        <a:solidFill>
                          <a:schemeClr val="dk1"/>
                        </a:solidFill>
                        <a:latin typeface="+mn-lt"/>
                        <a:ea typeface="+mn-ea"/>
                        <a:cs typeface="+mn-cs"/>
                      </a:endParaRPr>
                    </a:p>
                  </a:txBody>
                  <a:tcPr anchor="ctr"/>
                </a:tc>
                <a:tc>
                  <a:txBody>
                    <a:bodyPr/>
                    <a:lstStyle/>
                    <a:p>
                      <a:pPr marL="0" algn="l" defTabSz="914400" rtl="0" eaLnBrk="1" latinLnBrk="0" hangingPunct="1">
                        <a:buNone/>
                      </a:pPr>
                      <a:r>
                        <a:rPr lang="en-TW" sz="1600" b="1" kern="1200" dirty="0">
                          <a:solidFill>
                            <a:schemeClr val="dk1"/>
                          </a:solidFill>
                        </a:rPr>
                        <a:t>0.7830</a:t>
                      </a:r>
                      <a:r>
                        <a:rPr lang="en-TW" sz="1600" b="0" kern="1200" dirty="0">
                          <a:solidFill>
                            <a:schemeClr val="dk1"/>
                          </a:solidFill>
                        </a:rPr>
                        <a:t> ± 0.0040</a:t>
                      </a:r>
                      <a:endParaRPr lang="en-TW" sz="1600" b="0" kern="1200" dirty="0">
                        <a:solidFill>
                          <a:schemeClr val="dk1"/>
                        </a:solidFill>
                        <a:latin typeface="+mn-lt"/>
                        <a:ea typeface="+mn-ea"/>
                        <a:cs typeface="+mn-cs"/>
                      </a:endParaRPr>
                    </a:p>
                  </a:txBody>
                  <a:tcPr anchor="ctr"/>
                </a:tc>
                <a:tc>
                  <a:txBody>
                    <a:bodyPr/>
                    <a:lstStyle/>
                    <a:p>
                      <a:pPr marL="0" algn="l" defTabSz="914400" rtl="0" eaLnBrk="1" latinLnBrk="0" hangingPunct="1">
                        <a:buNone/>
                      </a:pPr>
                      <a:r>
                        <a:rPr lang="en-TW" sz="1600" b="0" kern="1200" dirty="0">
                          <a:solidFill>
                            <a:schemeClr val="dk1"/>
                          </a:solidFill>
                        </a:rPr>
                        <a:t>0.6853</a:t>
                      </a:r>
                      <a:endParaRPr lang="en-TW" sz="1600" b="0" kern="1200" dirty="0">
                        <a:solidFill>
                          <a:schemeClr val="dk1"/>
                        </a:solidFill>
                        <a:latin typeface="+mn-lt"/>
                        <a:ea typeface="+mn-ea"/>
                        <a:cs typeface="+mn-cs"/>
                      </a:endParaRPr>
                    </a:p>
                  </a:txBody>
                  <a:tcPr anchor="ctr"/>
                </a:tc>
                <a:extLst>
                  <a:ext uri="{0D108BD9-81ED-4DB2-BD59-A6C34878D82A}">
                    <a16:rowId xmlns:a16="http://schemas.microsoft.com/office/drawing/2014/main" val="3020896913"/>
                  </a:ext>
                </a:extLst>
              </a:tr>
              <a:tr h="734100">
                <a:tc>
                  <a:txBody>
                    <a:bodyPr/>
                    <a:lstStyle/>
                    <a:p>
                      <a:pPr marL="0" algn="l" defTabSz="914400" rtl="0" eaLnBrk="1" latinLnBrk="0" hangingPunct="1">
                        <a:buNone/>
                      </a:pPr>
                      <a:r>
                        <a:rPr lang="en-TW" sz="1600" b="0" kern="1200" dirty="0">
                          <a:solidFill>
                            <a:schemeClr val="dk1"/>
                          </a:solidFill>
                          <a:latin typeface="+mn-lt"/>
                          <a:ea typeface="+mn-ea"/>
                          <a:cs typeface="+mn-cs"/>
                        </a:rPr>
                        <a:t>MTNet</a:t>
                      </a:r>
                    </a:p>
                  </a:txBody>
                  <a:tcPr anchor="ctr"/>
                </a:tc>
                <a:tc>
                  <a:txBody>
                    <a:bodyPr/>
                    <a:lstStyle/>
                    <a:p>
                      <a:pPr marL="0" algn="l" defTabSz="914400" rtl="0" eaLnBrk="1" latinLnBrk="0" hangingPunct="1">
                        <a:buNone/>
                      </a:pPr>
                      <a:r>
                        <a:rPr lang="en-TW" sz="1600" b="0" kern="1200" dirty="0">
                          <a:solidFill>
                            <a:schemeClr val="dk1"/>
                          </a:solidFill>
                          <a:latin typeface="+mn-lt"/>
                          <a:ea typeface="+mn-ea"/>
                          <a:cs typeface="+mn-cs"/>
                        </a:rPr>
                        <a:t>43.2 M</a:t>
                      </a:r>
                    </a:p>
                  </a:txBody>
                  <a:tcPr anchor="ctr"/>
                </a:tc>
                <a:tc>
                  <a:txBody>
                    <a:bodyPr/>
                    <a:lstStyle/>
                    <a:p>
                      <a:pPr marL="0" algn="l" defTabSz="914400" rtl="0" eaLnBrk="1" latinLnBrk="0" hangingPunct="1">
                        <a:buNone/>
                      </a:pPr>
                      <a:r>
                        <a:rPr lang="en-TW" sz="1600" b="0" kern="1200" dirty="0">
                          <a:solidFill>
                            <a:schemeClr val="dk1"/>
                          </a:solidFill>
                          <a:latin typeface="+mn-lt"/>
                          <a:ea typeface="+mn-ea"/>
                          <a:cs typeface="+mn-cs"/>
                        </a:rPr>
                        <a:t>0.7991 ± 0.0079</a:t>
                      </a:r>
                    </a:p>
                  </a:txBody>
                  <a:tcPr anchor="ctr"/>
                </a:tc>
                <a:tc>
                  <a:txBody>
                    <a:bodyPr/>
                    <a:lstStyle/>
                    <a:p>
                      <a:pPr marL="0" algn="l" defTabSz="914400" rtl="0" eaLnBrk="1" latinLnBrk="0" hangingPunct="1">
                        <a:buNone/>
                      </a:pPr>
                      <a:r>
                        <a:rPr lang="en-TW" sz="1600" b="0" kern="1200" dirty="0">
                          <a:solidFill>
                            <a:schemeClr val="dk1"/>
                          </a:solidFill>
                          <a:latin typeface="+mn-lt"/>
                          <a:ea typeface="+mn-ea"/>
                          <a:cs typeface="+mn-cs"/>
                        </a:rPr>
                        <a:t>0.7078</a:t>
                      </a:r>
                    </a:p>
                  </a:txBody>
                  <a:tcPr anchor="ctr"/>
                </a:tc>
                <a:extLst>
                  <a:ext uri="{0D108BD9-81ED-4DB2-BD59-A6C34878D82A}">
                    <a16:rowId xmlns:a16="http://schemas.microsoft.com/office/drawing/2014/main" val="4132388620"/>
                  </a:ext>
                </a:extLst>
              </a:tr>
              <a:tr h="734100">
                <a:tc>
                  <a:txBody>
                    <a:bodyPr/>
                    <a:lstStyle/>
                    <a:p>
                      <a:pPr marL="0" algn="l" defTabSz="914400" rtl="0" eaLnBrk="1" latinLnBrk="0" hangingPunct="1">
                        <a:buNone/>
                      </a:pPr>
                      <a:r>
                        <a:rPr lang="en-TW" sz="1600" dirty="0"/>
                        <a:t>TRFE+</a:t>
                      </a:r>
                      <a:endParaRPr lang="en-TW" sz="1600" b="0" kern="1200" dirty="0">
                        <a:solidFill>
                          <a:schemeClr val="dk1"/>
                        </a:solidFill>
                        <a:latin typeface="+mn-lt"/>
                        <a:ea typeface="+mn-ea"/>
                        <a:cs typeface="+mn-cs"/>
                      </a:endParaRPr>
                    </a:p>
                  </a:txBody>
                  <a:tcPr anchor="ctr"/>
                </a:tc>
                <a:tc>
                  <a:txBody>
                    <a:bodyPr/>
                    <a:lstStyle/>
                    <a:p>
                      <a:pPr marL="0" algn="l" defTabSz="914400" rtl="0" eaLnBrk="1" latinLnBrk="0" hangingPunct="1">
                        <a:buNone/>
                      </a:pPr>
                      <a:r>
                        <a:rPr lang="en-TW" sz="1600" dirty="0"/>
                        <a:t>45.4 M</a:t>
                      </a:r>
                      <a:endParaRPr lang="en-TW" sz="1600" b="0" kern="1200" dirty="0">
                        <a:solidFill>
                          <a:schemeClr val="dk1"/>
                        </a:solidFill>
                        <a:latin typeface="+mn-lt"/>
                        <a:ea typeface="+mn-ea"/>
                        <a:cs typeface="+mn-cs"/>
                      </a:endParaRPr>
                    </a:p>
                  </a:txBody>
                  <a:tcPr anchor="ctr"/>
                </a:tc>
                <a:tc>
                  <a:txBody>
                    <a:bodyPr/>
                    <a:lstStyle/>
                    <a:p>
                      <a:pPr marL="0" algn="l" defTabSz="914400" rtl="0" eaLnBrk="1" latinLnBrk="0" hangingPunct="1">
                        <a:buNone/>
                      </a:pPr>
                      <a:r>
                        <a:rPr lang="en-TW" sz="1600" dirty="0"/>
                        <a:t>0.8035 ± 0.0106</a:t>
                      </a:r>
                      <a:endParaRPr lang="en-TW" sz="1600" b="0" kern="1200" dirty="0">
                        <a:solidFill>
                          <a:schemeClr val="dk1"/>
                        </a:solidFill>
                        <a:latin typeface="+mn-lt"/>
                        <a:ea typeface="+mn-ea"/>
                        <a:cs typeface="+mn-cs"/>
                      </a:endParaRPr>
                    </a:p>
                  </a:txBody>
                  <a:tcPr anchor="ctr"/>
                </a:tc>
                <a:tc>
                  <a:txBody>
                    <a:bodyPr/>
                    <a:lstStyle/>
                    <a:p>
                      <a:pPr marL="0" algn="l" defTabSz="914400" rtl="0" eaLnBrk="1" latinLnBrk="0" hangingPunct="1">
                        <a:buNone/>
                      </a:pPr>
                      <a:r>
                        <a:rPr lang="en-TW" sz="1600" b="0" kern="1200" dirty="0">
                          <a:solidFill>
                            <a:schemeClr val="dk1"/>
                          </a:solidFill>
                          <a:latin typeface="+mn-lt"/>
                          <a:ea typeface="+mn-ea"/>
                          <a:cs typeface="+mn-cs"/>
                        </a:rPr>
                        <a:t>0.7077</a:t>
                      </a:r>
                    </a:p>
                  </a:txBody>
                  <a:tcPr anchor="ctr"/>
                </a:tc>
                <a:extLst>
                  <a:ext uri="{0D108BD9-81ED-4DB2-BD59-A6C34878D82A}">
                    <a16:rowId xmlns:a16="http://schemas.microsoft.com/office/drawing/2014/main" val="189393347"/>
                  </a:ext>
                </a:extLst>
              </a:tr>
            </a:tbl>
          </a:graphicData>
        </a:graphic>
      </p:graphicFrame>
      <p:sp>
        <p:nvSpPr>
          <p:cNvPr id="5" name="Title 4">
            <a:extLst>
              <a:ext uri="{FF2B5EF4-FFF2-40B4-BE49-F238E27FC236}">
                <a16:creationId xmlns:a16="http://schemas.microsoft.com/office/drawing/2014/main" id="{39C1CBBD-B1E6-C705-286F-4266CFAF4091}"/>
              </a:ext>
            </a:extLst>
          </p:cNvPr>
          <p:cNvSpPr>
            <a:spLocks noGrp="1"/>
          </p:cNvSpPr>
          <p:nvPr>
            <p:ph type="title"/>
          </p:nvPr>
        </p:nvSpPr>
        <p:spPr>
          <a:xfrm>
            <a:off x="2519123" y="556474"/>
            <a:ext cx="6226827" cy="465690"/>
          </a:xfrm>
        </p:spPr>
        <p:txBody>
          <a:bodyPr>
            <a:normAutofit fontScale="90000"/>
          </a:bodyPr>
          <a:lstStyle/>
          <a:p>
            <a:r>
              <a:rPr lang="en-TW" b="1" dirty="0"/>
              <a:t>1. 1 Did the widened U-Net have any impact?</a:t>
            </a:r>
          </a:p>
        </p:txBody>
      </p:sp>
      <p:sp>
        <p:nvSpPr>
          <p:cNvPr id="3" name="TextBox 2">
            <a:extLst>
              <a:ext uri="{FF2B5EF4-FFF2-40B4-BE49-F238E27FC236}">
                <a16:creationId xmlns:a16="http://schemas.microsoft.com/office/drawing/2014/main" id="{828E042C-88F5-09D6-DDF6-4874D6298659}"/>
              </a:ext>
            </a:extLst>
          </p:cNvPr>
          <p:cNvSpPr txBox="1"/>
          <p:nvPr/>
        </p:nvSpPr>
        <p:spPr>
          <a:xfrm>
            <a:off x="1316277" y="5232032"/>
            <a:ext cx="9275523" cy="923330"/>
          </a:xfrm>
          <a:prstGeom prst="rect">
            <a:avLst/>
          </a:prstGeom>
          <a:noFill/>
        </p:spPr>
        <p:txBody>
          <a:bodyPr wrap="square">
            <a:spAutoFit/>
          </a:bodyPr>
          <a:lstStyle/>
          <a:p>
            <a:r>
              <a:rPr lang="en-TW" dirty="0"/>
              <a:t>41% more parameters moved Dice by +0.0018, so MTNet’s advantage is not explained by capacity. </a:t>
            </a:r>
          </a:p>
          <a:p>
            <a:r>
              <a:rPr lang="en-TW" dirty="0"/>
              <a:t>gland data helps?</a:t>
            </a:r>
          </a:p>
        </p:txBody>
      </p:sp>
    </p:spTree>
    <p:extLst>
      <p:ext uri="{BB962C8B-B14F-4D97-AF65-F5344CB8AC3E}">
        <p14:creationId xmlns:p14="http://schemas.microsoft.com/office/powerpoint/2010/main" val="27694652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4">
            <a:extLst>
              <a:ext uri="{FF2B5EF4-FFF2-40B4-BE49-F238E27FC236}">
                <a16:creationId xmlns:a16="http://schemas.microsoft.com/office/drawing/2014/main" id="{BA609277-0F37-D2A2-D9E4-3EE7E156C13F}"/>
              </a:ext>
            </a:extLst>
          </p:cNvPr>
          <p:cNvSpPr txBox="1">
            <a:spLocks/>
          </p:cNvSpPr>
          <p:nvPr/>
        </p:nvSpPr>
        <p:spPr>
          <a:xfrm>
            <a:off x="2982586" y="375159"/>
            <a:ext cx="6226827" cy="465690"/>
          </a:xfrm>
          <a:prstGeom prst="rect">
            <a:avLst/>
          </a:prstGeom>
          <a:noFill/>
          <a:ln/>
        </p:spPr>
        <p:txBody>
          <a:bodyPr vert="horz" wrap="square" lIns="0" tIns="0" rIns="0" bIns="0" rtlCol="0" anchor="t">
            <a:normAutofit fontScale="97500"/>
          </a:bodyPr>
          <a:lstStyle>
            <a:lvl1pPr marL="0" indent="0" algn="l" defTabSz="914400" rtl="0" eaLnBrk="1" latinLnBrk="0" hangingPunct="1">
              <a:lnSpc>
                <a:spcPct val="115000"/>
              </a:lnSpc>
              <a:spcBef>
                <a:spcPct val="0"/>
              </a:spcBef>
              <a:buNone/>
              <a:defRPr lang="en-US" sz="2198" kern="1200" dirty="0">
                <a:solidFill>
                  <a:srgbClr val="14202E"/>
                </a:solidFill>
                <a:latin typeface="Georgia" pitchFamily="34" charset="0"/>
                <a:ea typeface="Georgia" pitchFamily="34" charset="-122"/>
                <a:cs typeface="Georgia" pitchFamily="34" charset="-120"/>
              </a:defRPr>
            </a:lvl1pPr>
          </a:lstStyle>
          <a:p>
            <a:r>
              <a:rPr lang="en-TW" b="1" dirty="0"/>
              <a:t>1. 2 </a:t>
            </a:r>
            <a:r>
              <a:rPr lang="en-TW" sz="2100" b="1" dirty="0"/>
              <a:t>USCL weights for initialisation</a:t>
            </a:r>
          </a:p>
        </p:txBody>
      </p:sp>
      <p:graphicFrame>
        <p:nvGraphicFramePr>
          <p:cNvPr id="7" name="Table 6">
            <a:extLst>
              <a:ext uri="{FF2B5EF4-FFF2-40B4-BE49-F238E27FC236}">
                <a16:creationId xmlns:a16="http://schemas.microsoft.com/office/drawing/2014/main" id="{49377933-A20E-31C0-AA37-E33CB0F4CDC3}"/>
              </a:ext>
            </a:extLst>
          </p:cNvPr>
          <p:cNvGraphicFramePr>
            <a:graphicFrameLocks noGrp="1"/>
          </p:cNvGraphicFramePr>
          <p:nvPr>
            <p:extLst>
              <p:ext uri="{D42A27DB-BD31-4B8C-83A1-F6EECF244321}">
                <p14:modId xmlns:p14="http://schemas.microsoft.com/office/powerpoint/2010/main" val="3156498428"/>
              </p:ext>
            </p:extLst>
          </p:nvPr>
        </p:nvGraphicFramePr>
        <p:xfrm>
          <a:off x="1022249" y="3078724"/>
          <a:ext cx="9737607" cy="2650706"/>
        </p:xfrm>
        <a:graphic>
          <a:graphicData uri="http://schemas.openxmlformats.org/drawingml/2006/table">
            <a:tbl>
              <a:tblPr firstRow="1" bandRow="1">
                <a:tableStyleId>{5C22544A-7EE6-4342-B048-85BDC9FD1C3A}</a:tableStyleId>
              </a:tblPr>
              <a:tblGrid>
                <a:gridCol w="1291293">
                  <a:extLst>
                    <a:ext uri="{9D8B030D-6E8A-4147-A177-3AD203B41FA5}">
                      <a16:colId xmlns:a16="http://schemas.microsoft.com/office/drawing/2014/main" val="3177161510"/>
                    </a:ext>
                  </a:extLst>
                </a:gridCol>
                <a:gridCol w="2671816">
                  <a:extLst>
                    <a:ext uri="{9D8B030D-6E8A-4147-A177-3AD203B41FA5}">
                      <a16:colId xmlns:a16="http://schemas.microsoft.com/office/drawing/2014/main" val="2647850350"/>
                    </a:ext>
                  </a:extLst>
                </a:gridCol>
                <a:gridCol w="1490597">
                  <a:extLst>
                    <a:ext uri="{9D8B030D-6E8A-4147-A177-3AD203B41FA5}">
                      <a16:colId xmlns:a16="http://schemas.microsoft.com/office/drawing/2014/main" val="1664566838"/>
                    </a:ext>
                  </a:extLst>
                </a:gridCol>
                <a:gridCol w="1453019">
                  <a:extLst>
                    <a:ext uri="{9D8B030D-6E8A-4147-A177-3AD203B41FA5}">
                      <a16:colId xmlns:a16="http://schemas.microsoft.com/office/drawing/2014/main" val="1032186011"/>
                    </a:ext>
                  </a:extLst>
                </a:gridCol>
                <a:gridCol w="1315233">
                  <a:extLst>
                    <a:ext uri="{9D8B030D-6E8A-4147-A177-3AD203B41FA5}">
                      <a16:colId xmlns:a16="http://schemas.microsoft.com/office/drawing/2014/main" val="4278696763"/>
                    </a:ext>
                  </a:extLst>
                </a:gridCol>
                <a:gridCol w="1515649">
                  <a:extLst>
                    <a:ext uri="{9D8B030D-6E8A-4147-A177-3AD203B41FA5}">
                      <a16:colId xmlns:a16="http://schemas.microsoft.com/office/drawing/2014/main" val="2069309703"/>
                    </a:ext>
                  </a:extLst>
                </a:gridCol>
              </a:tblGrid>
              <a:tr h="335965">
                <a:tc>
                  <a:txBody>
                    <a:bodyPr/>
                    <a:lstStyle/>
                    <a:p>
                      <a:pPr>
                        <a:buNone/>
                      </a:pPr>
                      <a:r>
                        <a:rPr lang="en-TW" dirty="0"/>
                        <a:t>Encoder init</a:t>
                      </a:r>
                    </a:p>
                  </a:txBody>
                  <a:tcPr anchor="ctr"/>
                </a:tc>
                <a:tc>
                  <a:txBody>
                    <a:bodyPr/>
                    <a:lstStyle/>
                    <a:p>
                      <a:pPr>
                        <a:buNone/>
                      </a:pPr>
                      <a:r>
                        <a:rPr lang="en-TW" dirty="0"/>
                        <a:t>Numbers in the encoder at the start</a:t>
                      </a:r>
                    </a:p>
                  </a:txBody>
                  <a:tcPr anchor="ctr"/>
                </a:tc>
                <a:tc>
                  <a:txBody>
                    <a:bodyPr/>
                    <a:lstStyle/>
                    <a:p>
                      <a:pPr>
                        <a:buNone/>
                      </a:pPr>
                      <a:r>
                        <a:rPr lang="en-TW" dirty="0"/>
                        <a:t>Dice</a:t>
                      </a:r>
                    </a:p>
                  </a:txBody>
                  <a:tcPr anchor="ctr"/>
                </a:tc>
                <a:tc>
                  <a:txBody>
                    <a:bodyPr/>
                    <a:lstStyle/>
                    <a:p>
                      <a:pPr>
                        <a:buNone/>
                      </a:pPr>
                      <a:r>
                        <a:rPr lang="en-TW"/>
                        <a:t>IoU</a:t>
                      </a:r>
                    </a:p>
                  </a:txBody>
                  <a:tcPr anchor="ctr"/>
                </a:tc>
                <a:tc>
                  <a:txBody>
                    <a:bodyPr/>
                    <a:lstStyle/>
                    <a:p>
                      <a:pPr>
                        <a:buNone/>
                      </a:pPr>
                      <a:r>
                        <a:rPr lang="en-TW"/>
                        <a:t>HD95</a:t>
                      </a:r>
                    </a:p>
                  </a:txBody>
                  <a:tcPr anchor="ctr"/>
                </a:tc>
                <a:tc>
                  <a:txBody>
                    <a:bodyPr/>
                    <a:lstStyle/>
                    <a:p>
                      <a:pPr>
                        <a:buNone/>
                      </a:pPr>
                      <a:r>
                        <a:rPr lang="en-TW"/>
                        <a:t>Empty preds</a:t>
                      </a:r>
                    </a:p>
                  </a:txBody>
                  <a:tcPr anchor="ctr"/>
                </a:tc>
                <a:extLst>
                  <a:ext uri="{0D108BD9-81ED-4DB2-BD59-A6C34878D82A}">
                    <a16:rowId xmlns:a16="http://schemas.microsoft.com/office/drawing/2014/main" val="2032940116"/>
                  </a:ext>
                </a:extLst>
              </a:tr>
              <a:tr h="477629">
                <a:tc>
                  <a:txBody>
                    <a:bodyPr/>
                    <a:lstStyle/>
                    <a:p>
                      <a:pPr>
                        <a:buNone/>
                      </a:pPr>
                      <a:r>
                        <a:rPr lang="en-TW" dirty="0"/>
                        <a:t>random</a:t>
                      </a:r>
                    </a:p>
                  </a:txBody>
                  <a:tcPr anchor="ctr"/>
                </a:tc>
                <a:tc>
                  <a:txBody>
                    <a:bodyPr/>
                    <a:lstStyle/>
                    <a:p>
                      <a:pPr>
                        <a:buNone/>
                      </a:pPr>
                      <a:r>
                        <a:rPr lang="en-TW" dirty="0"/>
                        <a:t>fresh random numbers — no prior learning</a:t>
                      </a:r>
                    </a:p>
                  </a:txBody>
                  <a:tcPr anchor="ctr"/>
                </a:tc>
                <a:tc>
                  <a:txBody>
                    <a:bodyPr/>
                    <a:lstStyle/>
                    <a:p>
                      <a:pPr>
                        <a:buNone/>
                      </a:pPr>
                      <a:r>
                        <a:rPr lang="en-TW"/>
                        <a:t>0.7550</a:t>
                      </a:r>
                    </a:p>
                  </a:txBody>
                  <a:tcPr anchor="ctr"/>
                </a:tc>
                <a:tc>
                  <a:txBody>
                    <a:bodyPr/>
                    <a:lstStyle/>
                    <a:p>
                      <a:pPr>
                        <a:buNone/>
                      </a:pPr>
                      <a:r>
                        <a:rPr lang="en-TW"/>
                        <a:t>0.6569</a:t>
                      </a:r>
                    </a:p>
                  </a:txBody>
                  <a:tcPr anchor="ctr"/>
                </a:tc>
                <a:tc>
                  <a:txBody>
                    <a:bodyPr/>
                    <a:lstStyle/>
                    <a:p>
                      <a:pPr>
                        <a:buNone/>
                      </a:pPr>
                      <a:r>
                        <a:rPr lang="en-TW"/>
                        <a:t>22.88</a:t>
                      </a:r>
                    </a:p>
                  </a:txBody>
                  <a:tcPr anchor="ctr"/>
                </a:tc>
                <a:tc>
                  <a:txBody>
                    <a:bodyPr/>
                    <a:lstStyle/>
                    <a:p>
                      <a:pPr>
                        <a:buNone/>
                      </a:pPr>
                      <a:r>
                        <a:rPr lang="en-TW"/>
                        <a:t>13</a:t>
                      </a:r>
                    </a:p>
                  </a:txBody>
                  <a:tcPr anchor="ctr"/>
                </a:tc>
                <a:extLst>
                  <a:ext uri="{0D108BD9-81ED-4DB2-BD59-A6C34878D82A}">
                    <a16:rowId xmlns:a16="http://schemas.microsoft.com/office/drawing/2014/main" val="433355838"/>
                  </a:ext>
                </a:extLst>
              </a:tr>
              <a:tr h="674299">
                <a:tc>
                  <a:txBody>
                    <a:bodyPr/>
                    <a:lstStyle/>
                    <a:p>
                      <a:pPr>
                        <a:buNone/>
                      </a:pPr>
                      <a:r>
                        <a:rPr lang="en-TW" dirty="0"/>
                        <a:t>ImageNet</a:t>
                      </a:r>
                    </a:p>
                  </a:txBody>
                  <a:tcPr anchor="ctr"/>
                </a:tc>
                <a:tc>
                  <a:txBody>
                    <a:bodyPr/>
                    <a:lstStyle/>
                    <a:p>
                      <a:pPr>
                        <a:buNone/>
                      </a:pPr>
                      <a:r>
                        <a:rPr lang="en-TW" dirty="0"/>
                        <a:t>a ResNet-18 that learned to classify photographs</a:t>
                      </a:r>
                    </a:p>
                  </a:txBody>
                  <a:tcPr anchor="ctr"/>
                </a:tc>
                <a:tc>
                  <a:txBody>
                    <a:bodyPr/>
                    <a:lstStyle/>
                    <a:p>
                      <a:pPr>
                        <a:buNone/>
                      </a:pPr>
                      <a:r>
                        <a:rPr lang="en-TW"/>
                        <a:t>0.8134</a:t>
                      </a:r>
                    </a:p>
                  </a:txBody>
                  <a:tcPr anchor="ctr"/>
                </a:tc>
                <a:tc>
                  <a:txBody>
                    <a:bodyPr/>
                    <a:lstStyle/>
                    <a:p>
                      <a:pPr>
                        <a:buNone/>
                      </a:pPr>
                      <a:r>
                        <a:rPr lang="en-TW"/>
                        <a:t>0.7196</a:t>
                      </a:r>
                    </a:p>
                  </a:txBody>
                  <a:tcPr anchor="ctr"/>
                </a:tc>
                <a:tc>
                  <a:txBody>
                    <a:bodyPr/>
                    <a:lstStyle/>
                    <a:p>
                      <a:pPr>
                        <a:buNone/>
                      </a:pPr>
                      <a:r>
                        <a:rPr lang="en-TW"/>
                        <a:t>19.23</a:t>
                      </a:r>
                    </a:p>
                  </a:txBody>
                  <a:tcPr anchor="ctr"/>
                </a:tc>
                <a:tc>
                  <a:txBody>
                    <a:bodyPr/>
                    <a:lstStyle/>
                    <a:p>
                      <a:pPr>
                        <a:buNone/>
                      </a:pPr>
                      <a:r>
                        <a:rPr lang="en-TW" dirty="0"/>
                        <a:t>2</a:t>
                      </a:r>
                    </a:p>
                  </a:txBody>
                  <a:tcPr anchor="ctr"/>
                </a:tc>
                <a:extLst>
                  <a:ext uri="{0D108BD9-81ED-4DB2-BD59-A6C34878D82A}">
                    <a16:rowId xmlns:a16="http://schemas.microsoft.com/office/drawing/2014/main" val="3020896913"/>
                  </a:ext>
                </a:extLst>
              </a:tr>
              <a:tr h="696247">
                <a:tc>
                  <a:txBody>
                    <a:bodyPr/>
                    <a:lstStyle/>
                    <a:p>
                      <a:pPr>
                        <a:buNone/>
                      </a:pPr>
                      <a:r>
                        <a:rPr lang="en-TW" b="1" dirty="0"/>
                        <a:t>USCL</a:t>
                      </a:r>
                      <a:endParaRPr lang="en-TW" dirty="0"/>
                    </a:p>
                  </a:txBody>
                  <a:tcPr anchor="ctr"/>
                </a:tc>
                <a:tc>
                  <a:txBody>
                    <a:bodyPr/>
                    <a:lstStyle/>
                    <a:p>
                      <a:pPr>
                        <a:buNone/>
                      </a:pPr>
                      <a:r>
                        <a:rPr lang="en-TW" dirty="0"/>
                        <a:t>a ResNet-18 that learned from US-4 ultrasound</a:t>
                      </a:r>
                    </a:p>
                  </a:txBody>
                  <a:tcPr anchor="ctr"/>
                </a:tc>
                <a:tc>
                  <a:txBody>
                    <a:bodyPr/>
                    <a:lstStyle/>
                    <a:p>
                      <a:pPr>
                        <a:buNone/>
                      </a:pPr>
                      <a:r>
                        <a:rPr lang="en-TW" b="1" dirty="0"/>
                        <a:t>0.7372</a:t>
                      </a:r>
                      <a:endParaRPr lang="en-TW" dirty="0"/>
                    </a:p>
                  </a:txBody>
                  <a:tcPr anchor="ctr"/>
                </a:tc>
                <a:tc>
                  <a:txBody>
                    <a:bodyPr/>
                    <a:lstStyle/>
                    <a:p>
                      <a:pPr>
                        <a:buNone/>
                      </a:pPr>
                      <a:r>
                        <a:rPr lang="en-TW" b="1"/>
                        <a:t>0.6384</a:t>
                      </a:r>
                      <a:endParaRPr lang="en-TW"/>
                    </a:p>
                  </a:txBody>
                  <a:tcPr anchor="ctr"/>
                </a:tc>
                <a:tc>
                  <a:txBody>
                    <a:bodyPr/>
                    <a:lstStyle/>
                    <a:p>
                      <a:pPr>
                        <a:buNone/>
                      </a:pPr>
                      <a:r>
                        <a:rPr lang="en-TW" b="1" dirty="0"/>
                        <a:t>25.16</a:t>
                      </a:r>
                      <a:endParaRPr lang="en-TW" dirty="0"/>
                    </a:p>
                  </a:txBody>
                  <a:tcPr anchor="ctr"/>
                </a:tc>
                <a:tc>
                  <a:txBody>
                    <a:bodyPr/>
                    <a:lstStyle/>
                    <a:p>
                      <a:pPr>
                        <a:buNone/>
                      </a:pPr>
                      <a:r>
                        <a:rPr lang="en-TW" b="1" dirty="0"/>
                        <a:t>20</a:t>
                      </a:r>
                      <a:endParaRPr lang="en-TW" dirty="0"/>
                    </a:p>
                  </a:txBody>
                  <a:tcPr anchor="ctr"/>
                </a:tc>
                <a:extLst>
                  <a:ext uri="{0D108BD9-81ED-4DB2-BD59-A6C34878D82A}">
                    <a16:rowId xmlns:a16="http://schemas.microsoft.com/office/drawing/2014/main" val="4132388620"/>
                  </a:ext>
                </a:extLst>
              </a:tr>
            </a:tbl>
          </a:graphicData>
        </a:graphic>
      </p:graphicFrame>
      <p:sp>
        <p:nvSpPr>
          <p:cNvPr id="9" name="TextBox 8">
            <a:extLst>
              <a:ext uri="{FF2B5EF4-FFF2-40B4-BE49-F238E27FC236}">
                <a16:creationId xmlns:a16="http://schemas.microsoft.com/office/drawing/2014/main" id="{CC114D27-4DDB-76E2-1850-892388484991}"/>
              </a:ext>
            </a:extLst>
          </p:cNvPr>
          <p:cNvSpPr txBox="1"/>
          <p:nvPr/>
        </p:nvSpPr>
        <p:spPr>
          <a:xfrm>
            <a:off x="381333" y="1082623"/>
            <a:ext cx="11019438" cy="1754326"/>
          </a:xfrm>
          <a:prstGeom prst="rect">
            <a:avLst/>
          </a:prstGeom>
          <a:noFill/>
        </p:spPr>
        <p:txBody>
          <a:bodyPr wrap="square">
            <a:spAutoFit/>
          </a:bodyPr>
          <a:lstStyle/>
          <a:p>
            <a:pPr marL="285750" indent="-285750">
              <a:buFont typeface="Arial" panose="020B0604020202020204" pitchFamily="34" charset="0"/>
              <a:buChar char="•"/>
            </a:pPr>
            <a:r>
              <a:rPr lang="en-TW" dirty="0"/>
              <a:t>USCL checkpoint contains weights shaped for a ResNet-18. The U-Net’s encoder is plain DoubleConv blocks — no layer matches in name or shape, so the weights cannot be loaded into it. Using USCL requires a model that contains a ResNet-18: a </a:t>
            </a:r>
            <a:r>
              <a:rPr lang="en-TW" b="1" dirty="0"/>
              <a:t>ResNet18-UNet</a:t>
            </a:r>
            <a:r>
              <a:rPr lang="en-TW" dirty="0"/>
              <a:t> (ResNet-18 encoder + U-Net decoder, 14.34 M)</a:t>
            </a:r>
          </a:p>
          <a:p>
            <a:pPr marL="285750" indent="-285750">
              <a:buFont typeface="Arial" panose="020B0604020202020204" pitchFamily="34" charset="0"/>
              <a:buChar char="•"/>
            </a:pPr>
            <a:endParaRPr lang="en-TW" dirty="0"/>
          </a:p>
          <a:p>
            <a:pPr marL="285750" indent="-285750">
              <a:buFont typeface="Arial" panose="020B0604020202020204" pitchFamily="34" charset="0"/>
              <a:buChar char="•"/>
            </a:pPr>
            <a:r>
              <a:rPr lang="en-TW" dirty="0"/>
              <a:t>All three rows are that same ResNet18-UNet. Only the encoder’s starting weights differ. TN3K fold 0, identical lr / schedule / data.</a:t>
            </a:r>
          </a:p>
        </p:txBody>
      </p:sp>
      <p:sp>
        <p:nvSpPr>
          <p:cNvPr id="11" name="TextBox 10">
            <a:extLst>
              <a:ext uri="{FF2B5EF4-FFF2-40B4-BE49-F238E27FC236}">
                <a16:creationId xmlns:a16="http://schemas.microsoft.com/office/drawing/2014/main" id="{26DD6DD8-7312-C54B-C9D6-934A71F19F46}"/>
              </a:ext>
            </a:extLst>
          </p:cNvPr>
          <p:cNvSpPr txBox="1"/>
          <p:nvPr/>
        </p:nvSpPr>
        <p:spPr>
          <a:xfrm>
            <a:off x="187890" y="5836510"/>
            <a:ext cx="11400771" cy="923330"/>
          </a:xfrm>
          <a:prstGeom prst="rect">
            <a:avLst/>
          </a:prstGeom>
          <a:noFill/>
        </p:spPr>
        <p:txBody>
          <a:bodyPr wrap="square">
            <a:spAutoFit/>
          </a:bodyPr>
          <a:lstStyle/>
          <a:p>
            <a:pPr marL="285750" indent="-285750">
              <a:buFont typeface="Arial" panose="020B0604020202020204" pitchFamily="34" charset="0"/>
              <a:buChar char="•"/>
            </a:pPr>
            <a:r>
              <a:rPr lang="en-TW" dirty="0"/>
              <a:t>ImageNet on the same model gains </a:t>
            </a:r>
            <a:r>
              <a:rPr lang="en-TW" b="1" dirty="0"/>
              <a:t>+0.0584 over random init</a:t>
            </a:r>
            <a:r>
              <a:rPr lang="en-TW" dirty="0"/>
              <a:t> at the same lr — so prior learning does help here, and lr isn’t what hurt USCL; the weights are. Most likely domain mismatch: US-4 contains no thyroid. Matches the generic-US verdict in the ThyroidSegmentation journal, June 2026.</a:t>
            </a:r>
          </a:p>
        </p:txBody>
      </p:sp>
    </p:spTree>
    <p:extLst>
      <p:ext uri="{BB962C8B-B14F-4D97-AF65-F5344CB8AC3E}">
        <p14:creationId xmlns:p14="http://schemas.microsoft.com/office/powerpoint/2010/main" val="7174482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4494A-AD98-FBB2-B6E1-344612292915}"/>
              </a:ext>
            </a:extLst>
          </p:cNvPr>
          <p:cNvSpPr>
            <a:spLocks noGrp="1"/>
          </p:cNvSpPr>
          <p:nvPr>
            <p:ph type="title"/>
          </p:nvPr>
        </p:nvSpPr>
        <p:spPr>
          <a:xfrm>
            <a:off x="8430015" y="931319"/>
            <a:ext cx="3306873" cy="499928"/>
          </a:xfrm>
        </p:spPr>
        <p:txBody>
          <a:bodyPr/>
          <a:lstStyle/>
          <a:p>
            <a:r>
              <a:rPr lang="en-TW" b="1" dirty="0"/>
              <a:t>2.1 / 2.2 · Four curves</a:t>
            </a:r>
          </a:p>
        </p:txBody>
      </p:sp>
      <p:graphicFrame>
        <p:nvGraphicFramePr>
          <p:cNvPr id="7" name="Table 6">
            <a:extLst>
              <a:ext uri="{FF2B5EF4-FFF2-40B4-BE49-F238E27FC236}">
                <a16:creationId xmlns:a16="http://schemas.microsoft.com/office/drawing/2014/main" id="{24CC7BDB-C8D5-097D-30E2-4D2DAAB65C8D}"/>
              </a:ext>
            </a:extLst>
          </p:cNvPr>
          <p:cNvGraphicFramePr>
            <a:graphicFrameLocks noGrp="1"/>
          </p:cNvGraphicFramePr>
          <p:nvPr>
            <p:extLst>
              <p:ext uri="{D42A27DB-BD31-4B8C-83A1-F6EECF244321}">
                <p14:modId xmlns:p14="http://schemas.microsoft.com/office/powerpoint/2010/main" val="91988197"/>
              </p:ext>
            </p:extLst>
          </p:nvPr>
        </p:nvGraphicFramePr>
        <p:xfrm>
          <a:off x="290595" y="471203"/>
          <a:ext cx="7187443" cy="4649462"/>
        </p:xfrm>
        <a:graphic>
          <a:graphicData uri="http://schemas.openxmlformats.org/drawingml/2006/table">
            <a:tbl>
              <a:tblPr firstRow="1" bandRow="1">
                <a:tableStyleId>{5C22544A-7EE6-4342-B048-85BDC9FD1C3A}</a:tableStyleId>
              </a:tblPr>
              <a:tblGrid>
                <a:gridCol w="829197">
                  <a:extLst>
                    <a:ext uri="{9D8B030D-6E8A-4147-A177-3AD203B41FA5}">
                      <a16:colId xmlns:a16="http://schemas.microsoft.com/office/drawing/2014/main" val="2628411255"/>
                    </a:ext>
                  </a:extLst>
                </a:gridCol>
                <a:gridCol w="1028530">
                  <a:extLst>
                    <a:ext uri="{9D8B030D-6E8A-4147-A177-3AD203B41FA5}">
                      <a16:colId xmlns:a16="http://schemas.microsoft.com/office/drawing/2014/main" val="4273995361"/>
                    </a:ext>
                  </a:extLst>
                </a:gridCol>
                <a:gridCol w="960725">
                  <a:extLst>
                    <a:ext uri="{9D8B030D-6E8A-4147-A177-3AD203B41FA5}">
                      <a16:colId xmlns:a16="http://schemas.microsoft.com/office/drawing/2014/main" val="617723620"/>
                    </a:ext>
                  </a:extLst>
                </a:gridCol>
                <a:gridCol w="824451">
                  <a:extLst>
                    <a:ext uri="{9D8B030D-6E8A-4147-A177-3AD203B41FA5}">
                      <a16:colId xmlns:a16="http://schemas.microsoft.com/office/drawing/2014/main" val="2083714815"/>
                    </a:ext>
                  </a:extLst>
                </a:gridCol>
                <a:gridCol w="1327433">
                  <a:extLst>
                    <a:ext uri="{9D8B030D-6E8A-4147-A177-3AD203B41FA5}">
                      <a16:colId xmlns:a16="http://schemas.microsoft.com/office/drawing/2014/main" val="3696340572"/>
                    </a:ext>
                  </a:extLst>
                </a:gridCol>
                <a:gridCol w="977030">
                  <a:extLst>
                    <a:ext uri="{9D8B030D-6E8A-4147-A177-3AD203B41FA5}">
                      <a16:colId xmlns:a16="http://schemas.microsoft.com/office/drawing/2014/main" val="1425737883"/>
                    </a:ext>
                  </a:extLst>
                </a:gridCol>
                <a:gridCol w="1240077">
                  <a:extLst>
                    <a:ext uri="{9D8B030D-6E8A-4147-A177-3AD203B41FA5}">
                      <a16:colId xmlns:a16="http://schemas.microsoft.com/office/drawing/2014/main" val="1253329128"/>
                    </a:ext>
                  </a:extLst>
                </a:gridCol>
              </a:tblGrid>
              <a:tr h="869942">
                <a:tc>
                  <a:txBody>
                    <a:bodyPr/>
                    <a:lstStyle/>
                    <a:p>
                      <a:pPr marL="0" algn="l" defTabSz="914400" rtl="0" eaLnBrk="1" latinLnBrk="0" hangingPunct="1">
                        <a:buNone/>
                      </a:pPr>
                      <a:r>
                        <a:rPr lang="en-TW" sz="1400" b="1" kern="1200" dirty="0">
                          <a:solidFill>
                            <a:schemeClr val="dk1"/>
                          </a:solidFill>
                          <a:latin typeface="+mn-lt"/>
                          <a:ea typeface="+mn-ea"/>
                          <a:cs typeface="+mn-cs"/>
                        </a:rPr>
                        <a:t>Arm</a:t>
                      </a:r>
                    </a:p>
                  </a:txBody>
                  <a:tcPr anchor="ctr"/>
                </a:tc>
                <a:tc>
                  <a:txBody>
                    <a:bodyPr/>
                    <a:lstStyle/>
                    <a:p>
                      <a:pPr marL="0" algn="l" defTabSz="914400" rtl="0" eaLnBrk="1" latinLnBrk="0" hangingPunct="1">
                        <a:buNone/>
                      </a:pPr>
                      <a:r>
                        <a:rPr lang="en-TW" sz="1400" b="1" kern="1200" dirty="0">
                          <a:solidFill>
                            <a:schemeClr val="dk1"/>
                          </a:solidFill>
                          <a:latin typeface="+mn-lt"/>
                          <a:ea typeface="+mn-ea"/>
                          <a:cs typeface="+mn-cs"/>
                        </a:rPr>
                        <a:t>Training labels</a:t>
                      </a:r>
                    </a:p>
                  </a:txBody>
                  <a:tcPr anchor="ctr"/>
                </a:tc>
                <a:tc>
                  <a:txBody>
                    <a:bodyPr/>
                    <a:lstStyle/>
                    <a:p>
                      <a:pPr marL="0" algn="l" defTabSz="914400" rtl="0" eaLnBrk="1" latinLnBrk="0" hangingPunct="1">
                        <a:buNone/>
                      </a:pPr>
                      <a:r>
                        <a:rPr lang="en-TW" sz="1400" b="1" kern="1200">
                          <a:solidFill>
                            <a:schemeClr val="dk1"/>
                          </a:solidFill>
                          <a:latin typeface="+mn-lt"/>
                          <a:ea typeface="+mn-ea"/>
                          <a:cs typeface="+mn-cs"/>
                        </a:rPr>
                        <a:t>Blank in train</a:t>
                      </a:r>
                    </a:p>
                  </a:txBody>
                  <a:tcPr anchor="ctr"/>
                </a:tc>
                <a:tc>
                  <a:txBody>
                    <a:bodyPr/>
                    <a:lstStyle/>
                    <a:p>
                      <a:pPr marL="0" algn="l" defTabSz="914400" rtl="0" eaLnBrk="1" latinLnBrk="0" hangingPunct="1">
                        <a:buNone/>
                      </a:pPr>
                      <a:r>
                        <a:rPr lang="en-TW" sz="1400" b="1" kern="1200">
                          <a:solidFill>
                            <a:schemeClr val="dk1"/>
                          </a:solidFill>
                          <a:latin typeface="+mn-lt"/>
                          <a:ea typeface="+mn-ea"/>
                          <a:cs typeface="+mn-cs"/>
                        </a:rPr>
                        <a:t>Final train loss</a:t>
                      </a:r>
                    </a:p>
                  </a:txBody>
                  <a:tcPr anchor="ctr"/>
                </a:tc>
                <a:tc>
                  <a:txBody>
                    <a:bodyPr/>
                    <a:lstStyle/>
                    <a:p>
                      <a:pPr marL="0" algn="l" defTabSz="914400" rtl="0" eaLnBrk="1" latinLnBrk="0" hangingPunct="1">
                        <a:buNone/>
                      </a:pPr>
                      <a:r>
                        <a:rPr lang="en-TW" sz="1400" b="1" kern="1200" dirty="0">
                          <a:solidFill>
                            <a:schemeClr val="dk1"/>
                          </a:solidFill>
                          <a:latin typeface="+mn-lt"/>
                          <a:ea typeface="+mn-ea"/>
                          <a:cs typeface="+mn-cs"/>
                        </a:rPr>
                        <a:t>Learning-curve shape</a:t>
                      </a:r>
                    </a:p>
                  </a:txBody>
                  <a:tcPr anchor="ctr"/>
                </a:tc>
                <a:tc>
                  <a:txBody>
                    <a:bodyPr/>
                    <a:lstStyle/>
                    <a:p>
                      <a:pPr marL="0" algn="l" defTabSz="914400" rtl="0" eaLnBrk="1" latinLnBrk="0" hangingPunct="1">
                        <a:buNone/>
                      </a:pPr>
                      <a:r>
                        <a:rPr lang="en-TW" sz="1400" b="1" kern="1200" dirty="0">
                          <a:solidFill>
                            <a:schemeClr val="dk1"/>
                          </a:solidFill>
                          <a:latin typeface="+mn-lt"/>
                          <a:ea typeface="+mn-ea"/>
                          <a:cs typeface="+mn-cs"/>
                        </a:rPr>
                        <a:t>Dice</a:t>
                      </a:r>
                    </a:p>
                  </a:txBody>
                  <a:tcPr anchor="ctr"/>
                </a:tc>
                <a:tc>
                  <a:txBody>
                    <a:bodyPr/>
                    <a:lstStyle/>
                    <a:p>
                      <a:pPr marL="0" algn="l" defTabSz="914400" rtl="0" eaLnBrk="1" latinLnBrk="0" hangingPunct="1">
                        <a:buNone/>
                      </a:pPr>
                      <a:r>
                        <a:rPr lang="en-TW" sz="1400" dirty="0"/>
                        <a:t>Diagnosis</a:t>
                      </a:r>
                      <a:endParaRPr lang="en-TW" sz="1400" b="1" kern="1200" dirty="0">
                        <a:solidFill>
                          <a:schemeClr val="dk1"/>
                        </a:solidFill>
                        <a:latin typeface="+mn-lt"/>
                        <a:ea typeface="+mn-ea"/>
                        <a:cs typeface="+mn-cs"/>
                      </a:endParaRPr>
                    </a:p>
                  </a:txBody>
                  <a:tcPr anchor="ctr"/>
                </a:tc>
                <a:extLst>
                  <a:ext uri="{0D108BD9-81ED-4DB2-BD59-A6C34878D82A}">
                    <a16:rowId xmlns:a16="http://schemas.microsoft.com/office/drawing/2014/main" val="3204195942"/>
                  </a:ext>
                </a:extLst>
              </a:tr>
              <a:tr h="436542">
                <a:tc>
                  <a:txBody>
                    <a:bodyPr/>
                    <a:lstStyle/>
                    <a:p>
                      <a:pPr>
                        <a:buNone/>
                      </a:pPr>
                      <a:r>
                        <a:rPr lang="en-TW" sz="1400" b="0" kern="1200">
                          <a:solidFill>
                            <a:schemeClr val="dk1"/>
                          </a:solidFill>
                          <a:latin typeface="+mn-lt"/>
                          <a:ea typeface="+mn-ea"/>
                          <a:cs typeface="+mn-cs"/>
                        </a:rPr>
                        <a:t>Control</a:t>
                      </a:r>
                    </a:p>
                  </a:txBody>
                  <a:tcPr anchor="ctr"/>
                </a:tc>
                <a:tc>
                  <a:txBody>
                    <a:bodyPr/>
                    <a:lstStyle/>
                    <a:p>
                      <a:pPr>
                        <a:buNone/>
                      </a:pPr>
                      <a:r>
                        <a:rPr lang="en-TW" sz="1400" b="0" kern="1200" dirty="0">
                          <a:solidFill>
                            <a:schemeClr val="dk1"/>
                          </a:solidFill>
                          <a:latin typeface="+mn-lt"/>
                          <a:ea typeface="+mn-ea"/>
                          <a:cs typeface="+mn-cs"/>
                        </a:rPr>
                        <a:t>real nodule masks</a:t>
                      </a:r>
                    </a:p>
                  </a:txBody>
                  <a:tcPr anchor="ctr"/>
                </a:tc>
                <a:tc>
                  <a:txBody>
                    <a:bodyPr/>
                    <a:lstStyle/>
                    <a:p>
                      <a:pPr>
                        <a:buNone/>
                      </a:pPr>
                      <a:r>
                        <a:rPr lang="en-TW" sz="1400" b="0" kern="1200" dirty="0">
                          <a:solidFill>
                            <a:schemeClr val="dk1"/>
                          </a:solidFill>
                          <a:latin typeface="+mn-lt"/>
                          <a:ea typeface="+mn-ea"/>
                          <a:cs typeface="+mn-cs"/>
                        </a:rPr>
                        <a:t>6 / 2,879 (0.2%)</a:t>
                      </a:r>
                    </a:p>
                  </a:txBody>
                  <a:tcPr anchor="ctr"/>
                </a:tc>
                <a:tc>
                  <a:txBody>
                    <a:bodyPr/>
                    <a:lstStyle/>
                    <a:p>
                      <a:pPr>
                        <a:buNone/>
                      </a:pPr>
                      <a:r>
                        <a:rPr lang="en-TW" sz="1400" b="0" kern="1200" dirty="0">
                          <a:solidFill>
                            <a:schemeClr val="dk1"/>
                          </a:solidFill>
                          <a:latin typeface="+mn-lt"/>
                          <a:ea typeface="+mn-ea"/>
                          <a:cs typeface="+mn-cs"/>
                        </a:rPr>
                        <a:t>0.0586</a:t>
                      </a:r>
                    </a:p>
                  </a:txBody>
                  <a:tcPr anchor="ctr"/>
                </a:tc>
                <a:tc>
                  <a:txBody>
                    <a:bodyPr/>
                    <a:lstStyle/>
                    <a:p>
                      <a:pPr>
                        <a:buNone/>
                      </a:pPr>
                      <a:r>
                        <a:rPr lang="en-TW" sz="1400" b="0" kern="1200" dirty="0">
                          <a:solidFill>
                            <a:schemeClr val="dk1"/>
                          </a:solidFill>
                          <a:latin typeface="+mn-lt"/>
                          <a:ea typeface="+mn-ea"/>
                          <a:cs typeface="+mn-cs"/>
                        </a:rPr>
                        <a:t>smooth descent, nearly flat by ep 49</a:t>
                      </a:r>
                    </a:p>
                  </a:txBody>
                  <a:tcPr anchor="ctr"/>
                </a:tc>
                <a:tc>
                  <a:txBody>
                    <a:bodyPr/>
                    <a:lstStyle/>
                    <a:p>
                      <a:pPr>
                        <a:buNone/>
                      </a:pPr>
                      <a:r>
                        <a:rPr lang="en-TW" sz="1400" dirty="0"/>
                        <a:t>0.7918</a:t>
                      </a:r>
                      <a:endParaRPr lang="en-TW" sz="1400" b="0" kern="1200" dirty="0">
                        <a:solidFill>
                          <a:schemeClr val="dk1"/>
                        </a:solidFill>
                        <a:latin typeface="+mn-lt"/>
                        <a:ea typeface="+mn-ea"/>
                        <a:cs typeface="+mn-cs"/>
                      </a:endParaRPr>
                    </a:p>
                  </a:txBody>
                  <a:tcPr anchor="ctr"/>
                </a:tc>
                <a:tc>
                  <a:txBody>
                    <a:bodyPr/>
                    <a:lstStyle/>
                    <a:p>
                      <a:pPr>
                        <a:buNone/>
                      </a:pPr>
                      <a:r>
                        <a:rPr lang="en-TW" sz="1400" dirty="0"/>
                        <a:t>converged</a:t>
                      </a:r>
                      <a:endParaRPr lang="en-TW" sz="1400" b="0" kern="1200" dirty="0">
                        <a:solidFill>
                          <a:schemeClr val="dk1"/>
                        </a:solidFill>
                        <a:latin typeface="+mn-lt"/>
                        <a:ea typeface="+mn-ea"/>
                        <a:cs typeface="+mn-cs"/>
                      </a:endParaRPr>
                    </a:p>
                  </a:txBody>
                  <a:tcPr anchor="ctr"/>
                </a:tc>
                <a:extLst>
                  <a:ext uri="{0D108BD9-81ED-4DB2-BD59-A6C34878D82A}">
                    <a16:rowId xmlns:a16="http://schemas.microsoft.com/office/drawing/2014/main" val="1422232267"/>
                  </a:ext>
                </a:extLst>
              </a:tr>
              <a:tr h="436542">
                <a:tc>
                  <a:txBody>
                    <a:bodyPr/>
                    <a:lstStyle/>
                    <a:p>
                      <a:pPr>
                        <a:buNone/>
                      </a:pPr>
                      <a:r>
                        <a:rPr lang="en-TW" sz="1400" b="0" kern="1200">
                          <a:solidFill>
                            <a:schemeClr val="dk1"/>
                          </a:solidFill>
                          <a:latin typeface="+mn-lt"/>
                          <a:ea typeface="+mn-ea"/>
                          <a:cs typeface="+mn-cs"/>
                        </a:rPr>
                        <a:t>Student C2</a:t>
                      </a:r>
                    </a:p>
                  </a:txBody>
                  <a:tcPr anchor="ctr"/>
                </a:tc>
                <a:tc>
                  <a:txBody>
                    <a:bodyPr/>
                    <a:lstStyle/>
                    <a:p>
                      <a:pPr>
                        <a:buNone/>
                      </a:pPr>
                      <a:r>
                        <a:rPr lang="en-TW" sz="1400" b="0" kern="1200">
                          <a:solidFill>
                            <a:schemeClr val="dk1"/>
                          </a:solidFill>
                          <a:latin typeface="+mn-lt"/>
                          <a:ea typeface="+mn-ea"/>
                          <a:cs typeface="+mn-cs"/>
                        </a:rPr>
                        <a:t>pseudo nodule, blank frames removed</a:t>
                      </a:r>
                    </a:p>
                  </a:txBody>
                  <a:tcPr anchor="ctr"/>
                </a:tc>
                <a:tc>
                  <a:txBody>
                    <a:bodyPr/>
                    <a:lstStyle/>
                    <a:p>
                      <a:pPr>
                        <a:buNone/>
                      </a:pPr>
                      <a:r>
                        <a:rPr lang="en-TW" sz="1400" b="0" kern="1200">
                          <a:solidFill>
                            <a:schemeClr val="dk1"/>
                          </a:solidFill>
                          <a:latin typeface="+mn-lt"/>
                          <a:ea typeface="+mn-ea"/>
                          <a:cs typeface="+mn-cs"/>
                        </a:rPr>
                        <a:t>0 / 2,235 (0.0%)</a:t>
                      </a:r>
                    </a:p>
                  </a:txBody>
                  <a:tcPr anchor="ctr"/>
                </a:tc>
                <a:tc>
                  <a:txBody>
                    <a:bodyPr/>
                    <a:lstStyle/>
                    <a:p>
                      <a:pPr>
                        <a:buNone/>
                      </a:pPr>
                      <a:r>
                        <a:rPr lang="en-TW" sz="1400" b="0" kern="1200">
                          <a:solidFill>
                            <a:schemeClr val="dk1"/>
                          </a:solidFill>
                          <a:latin typeface="+mn-lt"/>
                          <a:ea typeface="+mn-ea"/>
                          <a:cs typeface="+mn-cs"/>
                        </a:rPr>
                        <a:t>0.2669</a:t>
                      </a:r>
                    </a:p>
                  </a:txBody>
                  <a:tcPr anchor="ctr"/>
                </a:tc>
                <a:tc>
                  <a:txBody>
                    <a:bodyPr/>
                    <a:lstStyle/>
                    <a:p>
                      <a:pPr>
                        <a:buNone/>
                      </a:pPr>
                      <a:r>
                        <a:rPr lang="en-TW" sz="1400" b="0" kern="1200">
                          <a:solidFill>
                            <a:schemeClr val="dk1"/>
                          </a:solidFill>
                          <a:latin typeface="+mn-lt"/>
                          <a:ea typeface="+mn-ea"/>
                          <a:cs typeface="+mn-cs"/>
                        </a:rPr>
                        <a:t>descending throughout, still falling at ep 49</a:t>
                      </a:r>
                    </a:p>
                  </a:txBody>
                  <a:tcPr anchor="ctr"/>
                </a:tc>
                <a:tc>
                  <a:txBody>
                    <a:bodyPr/>
                    <a:lstStyle/>
                    <a:p>
                      <a:pPr>
                        <a:buNone/>
                      </a:pPr>
                      <a:r>
                        <a:rPr lang="en-TW" sz="1400" dirty="0"/>
                        <a:t>0.2060</a:t>
                      </a:r>
                      <a:endParaRPr lang="en-TW" sz="1400" b="0" kern="1200" dirty="0">
                        <a:solidFill>
                          <a:schemeClr val="dk1"/>
                        </a:solidFill>
                        <a:latin typeface="+mn-lt"/>
                        <a:ea typeface="+mn-ea"/>
                        <a:cs typeface="+mn-cs"/>
                      </a:endParaRPr>
                    </a:p>
                  </a:txBody>
                  <a:tcPr anchor="ctr"/>
                </a:tc>
                <a:tc>
                  <a:txBody>
                    <a:bodyPr/>
                    <a:lstStyle/>
                    <a:p>
                      <a:pPr>
                        <a:buNone/>
                      </a:pPr>
                      <a:r>
                        <a:rPr lang="en-TW" sz="1400" dirty="0"/>
                        <a:t>underfitting</a:t>
                      </a:r>
                      <a:endParaRPr lang="en-TW" sz="1400" b="0" kern="1200" dirty="0">
                        <a:solidFill>
                          <a:schemeClr val="dk1"/>
                        </a:solidFill>
                        <a:latin typeface="+mn-lt"/>
                        <a:ea typeface="+mn-ea"/>
                        <a:cs typeface="+mn-cs"/>
                      </a:endParaRPr>
                    </a:p>
                  </a:txBody>
                  <a:tcPr anchor="ctr"/>
                </a:tc>
                <a:extLst>
                  <a:ext uri="{0D108BD9-81ED-4DB2-BD59-A6C34878D82A}">
                    <a16:rowId xmlns:a16="http://schemas.microsoft.com/office/drawing/2014/main" val="3020328307"/>
                  </a:ext>
                </a:extLst>
              </a:tr>
              <a:tr h="436542">
                <a:tc>
                  <a:txBody>
                    <a:bodyPr/>
                    <a:lstStyle/>
                    <a:p>
                      <a:pPr>
                        <a:buNone/>
                      </a:pPr>
                      <a:r>
                        <a:rPr lang="en-TW" sz="1400" b="0" kern="1200" dirty="0">
                          <a:solidFill>
                            <a:schemeClr val="dk1"/>
                          </a:solidFill>
                          <a:latin typeface="+mn-lt"/>
                          <a:ea typeface="+mn-ea"/>
                          <a:cs typeface="+mn-cs"/>
                        </a:rPr>
                        <a:t>Student C</a:t>
                      </a:r>
                    </a:p>
                  </a:txBody>
                  <a:tcPr anchor="ctr"/>
                </a:tc>
                <a:tc>
                  <a:txBody>
                    <a:bodyPr/>
                    <a:lstStyle/>
                    <a:p>
                      <a:pPr>
                        <a:buNone/>
                      </a:pPr>
                      <a:r>
                        <a:rPr lang="en-TW" sz="1400" b="0" kern="1200" dirty="0">
                          <a:solidFill>
                            <a:schemeClr val="dk1"/>
                          </a:solidFill>
                          <a:latin typeface="+mn-lt"/>
                          <a:ea typeface="+mn-ea"/>
                          <a:cs typeface="+mn-cs"/>
                        </a:rPr>
                        <a:t>pseudo nodule, as generated</a:t>
                      </a:r>
                    </a:p>
                  </a:txBody>
                  <a:tcPr anchor="ctr"/>
                </a:tc>
                <a:tc>
                  <a:txBody>
                    <a:bodyPr/>
                    <a:lstStyle/>
                    <a:p>
                      <a:pPr>
                        <a:buNone/>
                      </a:pPr>
                      <a:r>
                        <a:rPr lang="en-TW" sz="1400" b="0" kern="1200" dirty="0">
                          <a:solidFill>
                            <a:schemeClr val="dk1"/>
                          </a:solidFill>
                          <a:latin typeface="+mn-lt"/>
                          <a:ea typeface="+mn-ea"/>
                          <a:cs typeface="+mn-cs"/>
                        </a:rPr>
                        <a:t>791 / 3,026 (26.1%)</a:t>
                      </a:r>
                    </a:p>
                  </a:txBody>
                  <a:tcPr anchor="ctr"/>
                </a:tc>
                <a:tc>
                  <a:txBody>
                    <a:bodyPr/>
                    <a:lstStyle/>
                    <a:p>
                      <a:pPr>
                        <a:buNone/>
                      </a:pPr>
                      <a:r>
                        <a:rPr lang="en-TW" sz="1400" b="0" kern="1200" dirty="0">
                          <a:solidFill>
                            <a:schemeClr val="dk1"/>
                          </a:solidFill>
                          <a:latin typeface="+mn-lt"/>
                          <a:ea typeface="+mn-ea"/>
                          <a:cs typeface="+mn-cs"/>
                        </a:rPr>
                        <a:t>0.4573</a:t>
                      </a:r>
                    </a:p>
                  </a:txBody>
                  <a:tcPr anchor="ctr"/>
                </a:tc>
                <a:tc>
                  <a:txBody>
                    <a:bodyPr/>
                    <a:lstStyle/>
                    <a:p>
                      <a:pPr>
                        <a:buNone/>
                      </a:pPr>
                      <a:r>
                        <a:rPr lang="en-TW" sz="1400" b="0" kern="1200" dirty="0">
                          <a:solidFill>
                            <a:schemeClr val="dk1"/>
                          </a:solidFill>
                          <a:latin typeface="+mn-lt"/>
                          <a:ea typeface="+mn-ea"/>
                          <a:cs typeface="+mn-cs"/>
                        </a:rPr>
                        <a:t>drops to 0.457 by ep 5, then flat for 45 epochs</a:t>
                      </a:r>
                    </a:p>
                  </a:txBody>
                  <a:tcPr anchor="ctr"/>
                </a:tc>
                <a:tc>
                  <a:txBody>
                    <a:bodyPr/>
                    <a:lstStyle/>
                    <a:p>
                      <a:pPr>
                        <a:buNone/>
                      </a:pPr>
                      <a:r>
                        <a:rPr lang="en-TW" sz="1400" dirty="0"/>
                        <a:t>0.0000</a:t>
                      </a:r>
                      <a:endParaRPr lang="en-TW" sz="1400" b="0" kern="1200" dirty="0">
                        <a:solidFill>
                          <a:schemeClr val="dk1"/>
                        </a:solidFill>
                        <a:latin typeface="+mn-lt"/>
                        <a:ea typeface="+mn-ea"/>
                        <a:cs typeface="+mn-cs"/>
                      </a:endParaRPr>
                    </a:p>
                  </a:txBody>
                  <a:tcPr anchor="ctr"/>
                </a:tc>
                <a:tc>
                  <a:txBody>
                    <a:bodyPr/>
                    <a:lstStyle/>
                    <a:p>
                      <a:pPr>
                        <a:buNone/>
                      </a:pPr>
                      <a:r>
                        <a:rPr lang="en-US" sz="1400" dirty="0"/>
                        <a:t>C</a:t>
                      </a:r>
                      <a:r>
                        <a:rPr lang="en-TW" sz="1400"/>
                        <a:t>onverged by epo 5</a:t>
                      </a:r>
                      <a:endParaRPr lang="en-TW" sz="1400" b="0" kern="1200" dirty="0">
                        <a:solidFill>
                          <a:schemeClr val="dk1"/>
                        </a:solidFill>
                        <a:latin typeface="+mn-lt"/>
                        <a:ea typeface="+mn-ea"/>
                        <a:cs typeface="+mn-cs"/>
                      </a:endParaRPr>
                    </a:p>
                  </a:txBody>
                  <a:tcPr anchor="ctr"/>
                </a:tc>
                <a:extLst>
                  <a:ext uri="{0D108BD9-81ED-4DB2-BD59-A6C34878D82A}">
                    <a16:rowId xmlns:a16="http://schemas.microsoft.com/office/drawing/2014/main" val="217323720"/>
                  </a:ext>
                </a:extLst>
              </a:tr>
              <a:tr h="46209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TW" sz="1400" b="0" kern="1200" dirty="0">
                          <a:solidFill>
                            <a:schemeClr val="dk1"/>
                          </a:solidFill>
                          <a:latin typeface="+mn-lt"/>
                          <a:ea typeface="+mn-ea"/>
                          <a:cs typeface="+mn-cs"/>
                        </a:rPr>
                        <a:t>Student G</a:t>
                      </a:r>
                    </a:p>
                  </a:txBody>
                  <a:tcPr anchor="ctr"/>
                </a:tc>
                <a:tc>
                  <a:txBody>
                    <a:bodyPr/>
                    <a:lstStyle/>
                    <a:p>
                      <a:pPr>
                        <a:buNone/>
                      </a:pPr>
                      <a:r>
                        <a:rPr lang="en-TW" sz="1400" dirty="0"/>
                        <a:t>pseudo gland</a:t>
                      </a:r>
                      <a:endParaRPr lang="en-TW" sz="1400" b="0" kern="1200" dirty="0">
                        <a:solidFill>
                          <a:schemeClr val="dk1"/>
                        </a:solidFill>
                        <a:latin typeface="+mn-lt"/>
                        <a:ea typeface="+mn-ea"/>
                        <a:cs typeface="+mn-cs"/>
                      </a:endParaRPr>
                    </a:p>
                  </a:txBody>
                  <a:tcPr anchor="ctr"/>
                </a:tc>
                <a:tc>
                  <a:txBody>
                    <a:bodyPr/>
                    <a:lstStyle/>
                    <a:p>
                      <a:pPr>
                        <a:buNone/>
                      </a:pPr>
                      <a:r>
                        <a:rPr lang="en-TW" sz="1400" dirty="0"/>
                        <a:t>58/2,879 </a:t>
                      </a:r>
                    </a:p>
                    <a:p>
                      <a:pPr>
                        <a:buNone/>
                      </a:pPr>
                      <a:r>
                        <a:rPr lang="en-TW" sz="1400" b="0" kern="1200" dirty="0">
                          <a:solidFill>
                            <a:schemeClr val="dk1"/>
                          </a:solidFill>
                          <a:latin typeface="+mn-lt"/>
                          <a:ea typeface="+mn-ea"/>
                          <a:cs typeface="+mn-cs"/>
                        </a:rPr>
                        <a:t>(2.0%)</a:t>
                      </a:r>
                    </a:p>
                  </a:txBody>
                  <a:tcPr anchor="ctr"/>
                </a:tc>
                <a:tc>
                  <a:txBody>
                    <a:bodyPr/>
                    <a:lstStyle/>
                    <a:p>
                      <a:pPr>
                        <a:buNone/>
                      </a:pPr>
                      <a:r>
                        <a:rPr lang="en-TW" sz="1400" b="0" kern="1200" dirty="0">
                          <a:solidFill>
                            <a:schemeClr val="dk1"/>
                          </a:solidFill>
                          <a:latin typeface="+mn-lt"/>
                          <a:ea typeface="+mn-ea"/>
                          <a:cs typeface="+mn-cs"/>
                        </a:rPr>
                        <a:t>0.3444</a:t>
                      </a:r>
                    </a:p>
                  </a:txBody>
                  <a:tcPr anchor="ctr"/>
                </a:tc>
                <a:tc>
                  <a:txBody>
                    <a:bodyPr/>
                    <a:lstStyle/>
                    <a:p>
                      <a:pPr>
                        <a:buNone/>
                      </a:pPr>
                      <a:r>
                        <a:rPr lang="en-TW" sz="1400" dirty="0"/>
                        <a:t>spikes to 0.70 at ep 15, still falling at 49</a:t>
                      </a:r>
                      <a:endParaRPr lang="en-TW" sz="1400" b="0" kern="1200" dirty="0">
                        <a:solidFill>
                          <a:schemeClr val="dk1"/>
                        </a:solidFill>
                        <a:latin typeface="+mn-lt"/>
                        <a:ea typeface="+mn-ea"/>
                        <a:cs typeface="+mn-cs"/>
                      </a:endParaRPr>
                    </a:p>
                  </a:txBody>
                  <a:tcPr anchor="ctr"/>
                </a:tc>
                <a:tc>
                  <a:txBody>
                    <a:bodyPr/>
                    <a:lstStyle/>
                    <a:p>
                      <a:pPr>
                        <a:buNone/>
                      </a:pPr>
                      <a:r>
                        <a:rPr lang="en-TW" sz="1400" dirty="0"/>
                        <a:t>0.7318</a:t>
                      </a:r>
                      <a:endParaRPr lang="en-TW" sz="1400" b="0" kern="1200" dirty="0">
                        <a:solidFill>
                          <a:schemeClr val="dk1"/>
                        </a:solidFill>
                        <a:latin typeface="+mn-lt"/>
                        <a:ea typeface="+mn-ea"/>
                        <a:cs typeface="+mn-cs"/>
                      </a:endParaRPr>
                    </a:p>
                  </a:txBody>
                  <a:tcPr anchor="ctr"/>
                </a:tc>
                <a:tc>
                  <a:txBody>
                    <a:bodyPr/>
                    <a:lstStyle/>
                    <a:p>
                      <a:pPr>
                        <a:buNone/>
                      </a:pPr>
                      <a:r>
                        <a:rPr lang="en-TW" sz="1400" dirty="0"/>
                        <a:t>unstable + underfitting</a:t>
                      </a:r>
                      <a:endParaRPr lang="en-TW" sz="1400" b="0" kern="1200" dirty="0">
                        <a:solidFill>
                          <a:schemeClr val="dk1"/>
                        </a:solidFill>
                        <a:latin typeface="+mn-lt"/>
                        <a:ea typeface="+mn-ea"/>
                        <a:cs typeface="+mn-cs"/>
                      </a:endParaRPr>
                    </a:p>
                  </a:txBody>
                  <a:tcPr anchor="ctr"/>
                </a:tc>
                <a:extLst>
                  <a:ext uri="{0D108BD9-81ED-4DB2-BD59-A6C34878D82A}">
                    <a16:rowId xmlns:a16="http://schemas.microsoft.com/office/drawing/2014/main" val="3104311189"/>
                  </a:ext>
                </a:extLst>
              </a:tr>
            </a:tbl>
          </a:graphicData>
        </a:graphic>
      </p:graphicFrame>
      <p:pic>
        <p:nvPicPr>
          <p:cNvPr id="3" name="Picture 2">
            <a:extLst>
              <a:ext uri="{FF2B5EF4-FFF2-40B4-BE49-F238E27FC236}">
                <a16:creationId xmlns:a16="http://schemas.microsoft.com/office/drawing/2014/main" id="{9EE514BF-BDD6-CC52-23F2-887713CB7E18}"/>
              </a:ext>
            </a:extLst>
          </p:cNvPr>
          <p:cNvPicPr>
            <a:picLocks noChangeAspect="1"/>
          </p:cNvPicPr>
          <p:nvPr/>
        </p:nvPicPr>
        <p:blipFill>
          <a:blip r:embed="rId2"/>
          <a:stretch>
            <a:fillRect/>
          </a:stretch>
        </p:blipFill>
        <p:spPr>
          <a:xfrm>
            <a:off x="7580744" y="2204580"/>
            <a:ext cx="4479098" cy="2687459"/>
          </a:xfrm>
          <a:prstGeom prst="rect">
            <a:avLst/>
          </a:prstGeom>
        </p:spPr>
      </p:pic>
      <p:sp>
        <p:nvSpPr>
          <p:cNvPr id="5" name="TextBox 4">
            <a:extLst>
              <a:ext uri="{FF2B5EF4-FFF2-40B4-BE49-F238E27FC236}">
                <a16:creationId xmlns:a16="http://schemas.microsoft.com/office/drawing/2014/main" id="{01428D8E-0BBC-454E-690F-2B2D65B97736}"/>
              </a:ext>
            </a:extLst>
          </p:cNvPr>
          <p:cNvSpPr txBox="1"/>
          <p:nvPr/>
        </p:nvSpPr>
        <p:spPr>
          <a:xfrm>
            <a:off x="557408" y="5349291"/>
            <a:ext cx="10390339" cy="1477328"/>
          </a:xfrm>
          <a:prstGeom prst="rect">
            <a:avLst/>
          </a:prstGeom>
          <a:noFill/>
        </p:spPr>
        <p:txBody>
          <a:bodyPr wrap="square">
            <a:spAutoFit/>
          </a:bodyPr>
          <a:lstStyle/>
          <a:p>
            <a:pPr marL="285750" indent="-285750">
              <a:buFont typeface="Arial" panose="020B0604020202020204" pitchFamily="34" charset="0"/>
              <a:buChar char="•"/>
            </a:pPr>
            <a:r>
              <a:rPr lang="en-TW" b="1" dirty="0"/>
              <a:t>C’s collapse was not lr.</a:t>
            </a:r>
            <a:r>
              <a:rPr lang="en-TW" dirty="0"/>
              <a:t> C2 trains smoothly at the same 1e-2 on the same data minus the blank frames. If lr were the cause, C2 would have collapsed too. The lr point does land on G, which spikes above its own starting loss at epoch 15. </a:t>
            </a:r>
          </a:p>
          <a:p>
            <a:pPr marL="285750" indent="-285750">
              <a:buFont typeface="Arial" panose="020B0604020202020204" pitchFamily="34" charset="0"/>
              <a:buChar char="•"/>
            </a:pPr>
            <a:r>
              <a:rPr lang="en-TW" b="1" dirty="0"/>
              <a:t>underfitting is right for C2 and G, not for C.</a:t>
            </a:r>
            <a:r>
              <a:rPr lang="en-TW" dirty="0"/>
              <a:t> C’s loss is flat from epoch 5 onward: a converged degenerate solution, not a model still learning.</a:t>
            </a:r>
          </a:p>
        </p:txBody>
      </p:sp>
    </p:spTree>
    <p:extLst>
      <p:ext uri="{BB962C8B-B14F-4D97-AF65-F5344CB8AC3E}">
        <p14:creationId xmlns:p14="http://schemas.microsoft.com/office/powerpoint/2010/main" val="40122625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1080</TotalTime>
  <Words>495</Words>
  <Application>Microsoft Macintosh PowerPoint</Application>
  <PresentationFormat>Widescreen</PresentationFormat>
  <Paragraphs>96</Paragraphs>
  <Slides>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Aptos</vt:lpstr>
      <vt:lpstr>Aptos Display</vt:lpstr>
      <vt:lpstr>Arial</vt:lpstr>
      <vt:lpstr>Georgia</vt:lpstr>
      <vt:lpstr>Office Theme</vt:lpstr>
      <vt:lpstr>Baseline selection and pseudo-labelling</vt:lpstr>
      <vt:lpstr>1. 1 Did the widened U-Net have any impact?</vt:lpstr>
      <vt:lpstr>PowerPoint Presentation</vt:lpstr>
      <vt:lpstr>2.1 / 2.2 · Four curves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Amy Shih</dc:creator>
  <cp:lastModifiedBy>Amy Shih</cp:lastModifiedBy>
  <cp:revision>7</cp:revision>
  <dcterms:created xsi:type="dcterms:W3CDTF">2026-10-19T01:33:32Z</dcterms:created>
  <dcterms:modified xsi:type="dcterms:W3CDTF">2026-10-20T05:23:12Z</dcterms:modified>
</cp:coreProperties>
</file>