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63" r:id="rId2"/>
    <p:sldId id="257" r:id="rId3"/>
    <p:sldId id="260" r:id="rId4"/>
    <p:sldId id="258" r:id="rId5"/>
    <p:sldId id="259" r:id="rId6"/>
    <p:sldId id="261" r:id="rId7"/>
    <p:sldId id="264" r:id="rId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509"/>
    <p:restoredTop sz="86277"/>
  </p:normalViewPr>
  <p:slideViewPr>
    <p:cSldViewPr snapToGrid="0" snapToObjects="1">
      <p:cViewPr varScale="1">
        <p:scale>
          <a:sx n="98" d="100"/>
          <a:sy n="98" d="100"/>
        </p:scale>
        <p:origin x="216" y="2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276850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en-TW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TW" dirty="0"/>
              <a:t>TRFE+ feeds its predicted gland region into the nodule branch, so its advantage is bounded by gland prediction quality. TG3K’s gland masks have soft, JPEG-compressed boundaries on 93% of frames and come from roughly 16 videos, and TRFE+’s own gland head is no better than MTNet’s (−0.0052). A prior that carries no additional information cannot produce a nodule gain. The null is therefore consistent with two readings — the architecture adds nothing, or the gland supervision is too weak for it to exploit — and the data cannot currently separate them.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ody"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2800" y="812800"/>
            <a:ext cx="9779000" cy="472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15000"/>
              </a:lnSpc>
              <a:buNone/>
              <a:defRPr lang="en-US" sz="2198" dirty="0">
                <a:solidFill>
                  <a:srgbClr val="1420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defRPr>
            </a:lvl1pPr>
          </a:lstStyle>
          <a:p>
            <a:pPr marL="0" indent="0" algn="l">
              <a:lnSpc>
                <a:spcPct val="115000"/>
              </a:lnSpc>
              <a:buNone/>
            </a:pPr>
            <a:endParaRPr lang="en-US" sz="2198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>
          <a:xfrm>
            <a:off x="812800" y="1590104"/>
            <a:ext cx="10566400" cy="4455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40000"/>
              </a:lnSpc>
              <a:buNone/>
              <a:defRPr lang="en-US" sz="1600" dirty="0">
                <a:solidFill>
                  <a:srgbClr val="14202E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marL="0" indent="0" algn="l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2800" y="812800"/>
            <a:ext cx="9779000" cy="472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15000"/>
              </a:lnSpc>
              <a:buNone/>
              <a:defRPr lang="en-US" sz="2198" dirty="0">
                <a:solidFill>
                  <a:srgbClr val="1420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defRPr>
            </a:lvl1pPr>
          </a:lstStyle>
          <a:p>
            <a:pPr marL="0" indent="0" algn="l">
              <a:lnSpc>
                <a:spcPct val="115000"/>
              </a:lnSpc>
              <a:buNone/>
            </a:pPr>
            <a:endParaRPr lang="en-US" sz="2198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>
          <a:xfrm>
            <a:off x="812800" y="1590104"/>
            <a:ext cx="10566400" cy="4455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40000"/>
              </a:lnSpc>
              <a:buNone/>
              <a:defRPr lang="en-US" sz="1600" dirty="0">
                <a:solidFill>
                  <a:srgbClr val="14202E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marL="0" indent="0" algn="l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F7CCA1-6435-D381-0844-893559C2FF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2469" y="812800"/>
            <a:ext cx="10487062" cy="777304"/>
          </a:xfrm>
        </p:spPr>
        <p:txBody>
          <a:bodyPr/>
          <a:lstStyle/>
          <a:p>
            <a:pPr algn="ctr"/>
            <a:r>
              <a:rPr lang="en-US" sz="4000" b="1" dirty="0">
                <a:solidFill>
                  <a:schemeClr val="tx1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Baseline selection and pseudo-labelling</a:t>
            </a:r>
            <a:endParaRPr lang="en-TW" sz="3600" dirty="0">
              <a:solidFill>
                <a:schemeClr val="tx1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28A857-ACD6-67DB-AD2C-D9B346455480}"/>
              </a:ext>
            </a:extLst>
          </p:cNvPr>
          <p:cNvSpPr>
            <a:spLocks noGrp="1"/>
          </p:cNvSpPr>
          <p:nvPr>
            <p:ph type="body" idx="101"/>
          </p:nvPr>
        </p:nvSpPr>
        <p:spPr>
          <a:xfrm>
            <a:off x="2328433" y="2202628"/>
            <a:ext cx="7535133" cy="1659367"/>
          </a:xfrm>
        </p:spPr>
        <p:txBody>
          <a:bodyPr/>
          <a:lstStyle/>
          <a:p>
            <a:pPr>
              <a:lnSpc>
                <a:spcPts val="2160"/>
              </a:lnSpc>
            </a:pPr>
            <a:endParaRPr lang="en-US" b="1" dirty="0">
              <a:solidFill>
                <a:schemeClr val="tx1"/>
              </a:solidFill>
              <a:latin typeface="Georgia" pitchFamily="18" charset="0"/>
              <a:ea typeface="Georgia" pitchFamily="18" charset="-122"/>
              <a:cs typeface="Georgia" pitchFamily="18" charset="-120"/>
            </a:endParaRPr>
          </a:p>
          <a:p>
            <a:pPr marL="285750" indent="-285750">
              <a:lnSpc>
                <a:spcPts val="2160"/>
              </a:lnSpc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tx1"/>
                </a:solidFill>
                <a:latin typeface="Georgia" pitchFamily="18" charset="0"/>
              </a:rPr>
              <a:t>U-Net </a:t>
            </a:r>
            <a:r>
              <a:rPr lang="en-US" b="1" dirty="0" err="1">
                <a:solidFill>
                  <a:schemeClr val="tx1"/>
                </a:solidFill>
                <a:latin typeface="Georgia" pitchFamily="18" charset="0"/>
              </a:rPr>
              <a:t>v.s</a:t>
            </a:r>
            <a:r>
              <a:rPr lang="en-US" b="1" dirty="0">
                <a:solidFill>
                  <a:schemeClr val="tx1"/>
                </a:solidFill>
                <a:latin typeface="Georgia" pitchFamily="18" charset="0"/>
              </a:rPr>
              <a:t>. </a:t>
            </a:r>
            <a:r>
              <a:rPr lang="en-US" b="1" dirty="0" err="1">
                <a:solidFill>
                  <a:schemeClr val="tx1"/>
                </a:solidFill>
                <a:latin typeface="Georgia" pitchFamily="18" charset="0"/>
              </a:rPr>
              <a:t>MTNet</a:t>
            </a:r>
            <a:r>
              <a:rPr lang="en-US" b="1" dirty="0">
                <a:solidFill>
                  <a:schemeClr val="tx1"/>
                </a:solidFill>
                <a:latin typeface="Georgia" pitchFamily="18" charset="0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Georgia" pitchFamily="18" charset="0"/>
              </a:rPr>
              <a:t>v.s</a:t>
            </a:r>
            <a:r>
              <a:rPr lang="en-US" b="1" dirty="0">
                <a:solidFill>
                  <a:schemeClr val="tx1"/>
                </a:solidFill>
                <a:latin typeface="Georgia" pitchFamily="18" charset="0"/>
              </a:rPr>
              <a:t>. TRFE+ architecture</a:t>
            </a:r>
          </a:p>
          <a:p>
            <a:pPr marL="285750" indent="-285750">
              <a:lnSpc>
                <a:spcPts val="2160"/>
              </a:lnSpc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tx1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Pseudo-labelling</a:t>
            </a:r>
          </a:p>
          <a:p>
            <a:pPr>
              <a:lnSpc>
                <a:spcPts val="2160"/>
              </a:lnSpc>
            </a:pPr>
            <a:endParaRPr lang="en-US" dirty="0">
              <a:solidFill>
                <a:schemeClr val="tx1"/>
              </a:solidFill>
            </a:endParaRPr>
          </a:p>
          <a:p>
            <a:pPr>
              <a:lnSpc>
                <a:spcPts val="2160"/>
              </a:lnSpc>
            </a:pP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755879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883392" cy="39275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918"/>
              </a:lnSpc>
              <a:buNone/>
            </a:pPr>
            <a:r>
              <a:rPr lang="en-US" sz="2538" b="1" i="0" dirty="0">
                <a:solidFill>
                  <a:srgbClr val="14202E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Design: three </a:t>
            </a:r>
            <a:r>
              <a:rPr lang="en-US" sz="2538" b="1" dirty="0">
                <a:latin typeface="Georgia" pitchFamily="18" charset="0"/>
                <a:ea typeface="Georgia" pitchFamily="18" charset="-122"/>
                <a:cs typeface="Georgia" pitchFamily="18" charset="-120"/>
              </a:rPr>
              <a:t>steps</a:t>
            </a:r>
            <a:r>
              <a:rPr lang="en-US" sz="2538" b="1" i="0" dirty="0">
                <a:solidFill>
                  <a:srgbClr val="14202E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, one change each</a:t>
            </a:r>
            <a:endParaRPr lang="en-US" sz="2538" dirty="0"/>
          </a:p>
        </p:txBody>
      </p:sp>
      <p:sp>
        <p:nvSpPr>
          <p:cNvPr id="3" name="Shape 1"/>
          <p:cNvSpPr/>
          <p:nvPr/>
        </p:nvSpPr>
        <p:spPr>
          <a:xfrm>
            <a:off x="831850" y="1434157"/>
            <a:ext cx="0" cy="543669"/>
          </a:xfrm>
          <a:prstGeom prst="line">
            <a:avLst/>
          </a:prstGeom>
          <a:noFill/>
          <a:ln w="38100">
            <a:solidFill>
              <a:srgbClr val="1F5FA0"/>
            </a:solidFill>
            <a:prstDash val="solid"/>
          </a:ln>
        </p:spPr>
        <p:txBody>
          <a:bodyPr/>
          <a:lstStyle/>
          <a:p>
            <a:endParaRPr lang="en-TW"/>
          </a:p>
        </p:txBody>
      </p:sp>
      <p:sp>
        <p:nvSpPr>
          <p:cNvPr id="4" name="Text 2"/>
          <p:cNvSpPr/>
          <p:nvPr/>
        </p:nvSpPr>
        <p:spPr>
          <a:xfrm>
            <a:off x="1028700" y="1459557"/>
            <a:ext cx="10072370" cy="5182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58"/>
              </a:lnSpc>
              <a:buNone/>
            </a:pPr>
            <a:r>
              <a:rPr lang="en-US" sz="1450" dirty="0">
                <a:solidFill>
                  <a:srgbClr val="14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model differs from the one below it in exactly one respect, so every difference can be attributed to that one change.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812800" y="2238177"/>
            <a:ext cx="10566400" cy="0"/>
          </a:xfrm>
          <a:prstGeom prst="line">
            <a:avLst/>
          </a:prstGeom>
          <a:noFill/>
          <a:ln w="12700">
            <a:solidFill>
              <a:srgbClr val="141413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en-TW"/>
          </a:p>
        </p:txBody>
      </p:sp>
      <p:sp>
        <p:nvSpPr>
          <p:cNvPr id="6" name="Shape 4"/>
          <p:cNvSpPr/>
          <p:nvPr/>
        </p:nvSpPr>
        <p:spPr>
          <a:xfrm>
            <a:off x="819150" y="2231827"/>
            <a:ext cx="0" cy="2130276"/>
          </a:xfrm>
          <a:prstGeom prst="line">
            <a:avLst/>
          </a:prstGeom>
          <a:noFill/>
          <a:ln w="12700">
            <a:solidFill>
              <a:srgbClr val="141413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en-TW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8659769"/>
              </p:ext>
            </p:extLst>
          </p:nvPr>
        </p:nvGraphicFramePr>
        <p:xfrm>
          <a:off x="939800" y="2346127"/>
          <a:ext cx="10325100" cy="1914376"/>
        </p:xfrm>
        <a:graphic>
          <a:graphicData uri="http://schemas.openxmlformats.org/drawingml/2006/table">
            <a:tbl>
              <a:tblPr/>
              <a:tblGrid>
                <a:gridCol w="92925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650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6176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8452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68452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4083">
                <a:tc>
                  <a:txBody>
                    <a:bodyPr/>
                    <a:lstStyle/>
                    <a:p>
                      <a:pPr marL="0" indent="0">
                        <a:lnSpc>
                          <a:spcPts val="1803"/>
                        </a:lnSpc>
                        <a:buNone/>
                      </a:pPr>
                      <a:r>
                        <a:rPr lang="en-US" sz="1288" b="1" dirty="0">
                          <a:solidFill>
                            <a:srgbClr val="1420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Step</a:t>
                      </a:r>
                      <a:endParaRPr lang="en-US" sz="1288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243" marR="57243" marT="57243" marB="57243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B9B9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B9B9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03"/>
                        </a:lnSpc>
                        <a:buNone/>
                      </a:pPr>
                      <a:r>
                        <a:rPr lang="en-US" sz="1288" b="1" dirty="0">
                          <a:solidFill>
                            <a:srgbClr val="1420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Model (params)</a:t>
                      </a:r>
                      <a:endParaRPr lang="en-US" sz="1288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243" marR="57243" marT="57243" marB="57243">
                    <a:lnL w="12700" cap="flat" cmpd="sng" algn="ctr">
                      <a:solidFill>
                        <a:srgbClr val="B9B9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B9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B9B9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03"/>
                        </a:lnSpc>
                        <a:buNone/>
                      </a:pPr>
                      <a:r>
                        <a:rPr lang="en-US" sz="1288" b="1" dirty="0">
                          <a:solidFill>
                            <a:srgbClr val="1420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Train data</a:t>
                      </a:r>
                      <a:endParaRPr lang="en-US" sz="1288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243" marR="57243" marT="57243" marB="57243">
                    <a:lnL w="12700" cap="flat" cmpd="sng" algn="ctr">
                      <a:solidFill>
                        <a:srgbClr val="B9B9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B9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B9B9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03"/>
                        </a:lnSpc>
                        <a:buNone/>
                      </a:pPr>
                      <a:r>
                        <a:rPr lang="en-US" sz="1288" b="1" dirty="0">
                          <a:solidFill>
                            <a:srgbClr val="1420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What it adds</a:t>
                      </a:r>
                      <a:endParaRPr lang="en-US" sz="1288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243" marR="57243" marT="57243" marB="57243">
                    <a:lnL w="12700" cap="flat" cmpd="sng" algn="ctr">
                      <a:solidFill>
                        <a:srgbClr val="B9B9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B9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B9B9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03"/>
                        </a:lnSpc>
                        <a:buNone/>
                      </a:pPr>
                      <a:r>
                        <a:rPr lang="en-US" sz="1288" b="1" dirty="0">
                          <a:solidFill>
                            <a:srgbClr val="1420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What the step isolates</a:t>
                      </a:r>
                      <a:endParaRPr lang="en-US" sz="1288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243" marR="57243" marT="57243" marB="57243">
                    <a:lnL w="12700" cap="flat" cmpd="sng" algn="ctr">
                      <a:solidFill>
                        <a:srgbClr val="B9B9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B9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B9B9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4133">
                <a:tc>
                  <a:txBody>
                    <a:bodyPr/>
                    <a:lstStyle/>
                    <a:p>
                      <a:pPr marL="0" indent="0">
                        <a:lnSpc>
                          <a:spcPts val="1803"/>
                        </a:lnSpc>
                        <a:buNone/>
                      </a:pPr>
                      <a:r>
                        <a:rPr lang="en-US" sz="1288" dirty="0">
                          <a:solidFill>
                            <a:srgbClr val="1420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288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243" marR="57243" marT="57243" marB="57243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B9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03"/>
                        </a:lnSpc>
                        <a:buNone/>
                      </a:pPr>
                      <a:r>
                        <a:rPr lang="en-US" sz="1288" dirty="0">
                          <a:solidFill>
                            <a:srgbClr val="1420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U-Net (31.0 M)</a:t>
                      </a:r>
                      <a:endParaRPr lang="en-US" sz="1288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243" marR="57243" marT="57243" marB="57243">
                    <a:lnL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B9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03"/>
                        </a:lnSpc>
                        <a:buNone/>
                      </a:pPr>
                      <a:r>
                        <a:rPr lang="en-US" sz="1288" dirty="0">
                          <a:solidFill>
                            <a:srgbClr val="1420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TN3K only</a:t>
                      </a:r>
                      <a:endParaRPr lang="en-US" sz="1288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243" marR="57243" marT="57243" marB="57243">
                    <a:lnL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B9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03"/>
                        </a:lnSpc>
                        <a:buNone/>
                      </a:pPr>
                      <a:r>
                        <a:rPr lang="en-US" sz="1288" dirty="0">
                          <a:solidFill>
                            <a:srgbClr val="1420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single task, nodule only</a:t>
                      </a:r>
                      <a:endParaRPr lang="en-US" sz="1288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243" marR="57243" marT="57243" marB="57243">
                    <a:lnL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B9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03"/>
                        </a:lnSpc>
                        <a:buNone/>
                      </a:pPr>
                      <a:r>
                        <a:rPr lang="en-US" sz="1288" dirty="0">
                          <a:solidFill>
                            <a:srgbClr val="1420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reference point</a:t>
                      </a:r>
                      <a:endParaRPr lang="en-US" sz="1288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243" marR="57243" marT="57243" marB="57243">
                    <a:lnL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B9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3080">
                <a:tc>
                  <a:txBody>
                    <a:bodyPr/>
                    <a:lstStyle/>
                    <a:p>
                      <a:pPr marL="0" indent="0">
                        <a:lnSpc>
                          <a:spcPts val="1803"/>
                        </a:lnSpc>
                        <a:buNone/>
                      </a:pPr>
                      <a:r>
                        <a:rPr lang="en-US" sz="1288" dirty="0">
                          <a:solidFill>
                            <a:srgbClr val="1420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288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243" marR="57243" marT="57243" marB="57243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03"/>
                        </a:lnSpc>
                        <a:buNone/>
                      </a:pPr>
                      <a:r>
                        <a:rPr lang="en-US" sz="1288" dirty="0" err="1">
                          <a:solidFill>
                            <a:srgbClr val="1420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MTNet</a:t>
                      </a:r>
                      <a:r>
                        <a:rPr lang="en-US" sz="1288" dirty="0">
                          <a:solidFill>
                            <a:srgbClr val="1420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(43.2 M)</a:t>
                      </a:r>
                      <a:endParaRPr lang="en-US" sz="1288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243" marR="57243" marT="57243" marB="57243">
                    <a:lnL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03"/>
                        </a:lnSpc>
                        <a:buNone/>
                      </a:pPr>
                      <a:r>
                        <a:rPr lang="en-US" sz="1288" dirty="0">
                          <a:solidFill>
                            <a:srgbClr val="1420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TN3K + TG3K</a:t>
                      </a:r>
                      <a:endParaRPr lang="en-US" sz="1288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243" marR="57243" marT="57243" marB="57243">
                    <a:lnL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03"/>
                        </a:lnSpc>
                        <a:buNone/>
                      </a:pPr>
                      <a:r>
                        <a:rPr lang="en-US" sz="1288" dirty="0">
                          <a:solidFill>
                            <a:srgbClr val="1420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gland head; gland and nodule meet only in the shared encoder</a:t>
                      </a:r>
                      <a:endParaRPr lang="en-US" sz="1288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243" marR="57243" marT="57243" marB="57243">
                    <a:lnL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03"/>
                        </a:lnSpc>
                        <a:buNone/>
                      </a:pPr>
                      <a:r>
                        <a:rPr lang="en-US" sz="1288" dirty="0">
                          <a:solidFill>
                            <a:srgbClr val="1420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does gland data help? (confounded: +39% params)</a:t>
                      </a:r>
                      <a:endParaRPr lang="en-US" sz="1288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243" marR="57243" marT="57243" marB="57243">
                    <a:lnL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3080">
                <a:tc>
                  <a:txBody>
                    <a:bodyPr/>
                    <a:lstStyle/>
                    <a:p>
                      <a:pPr marL="0" indent="0">
                        <a:lnSpc>
                          <a:spcPts val="1803"/>
                        </a:lnSpc>
                        <a:buNone/>
                      </a:pPr>
                      <a:r>
                        <a:rPr lang="en-US" sz="1288" dirty="0">
                          <a:solidFill>
                            <a:srgbClr val="1420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288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243" marR="57243" marT="57243" marB="57243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03"/>
                        </a:lnSpc>
                        <a:buNone/>
                      </a:pPr>
                      <a:r>
                        <a:rPr lang="en-US" sz="1288" dirty="0">
                          <a:solidFill>
                            <a:srgbClr val="1420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TRFE+ (45.4 M)</a:t>
                      </a:r>
                      <a:endParaRPr lang="en-US" sz="1288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243" marR="57243" marT="57243" marB="57243">
                    <a:lnL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03"/>
                        </a:lnSpc>
                        <a:buNone/>
                      </a:pPr>
                      <a:r>
                        <a:rPr lang="en-US" sz="1288" dirty="0">
                          <a:solidFill>
                            <a:srgbClr val="1420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TN3K + TG3K</a:t>
                      </a:r>
                      <a:endParaRPr lang="en-US" sz="1288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243" marR="57243" marT="57243" marB="57243">
                    <a:lnL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03"/>
                        </a:lnSpc>
                        <a:buNone/>
                      </a:pPr>
                      <a:r>
                        <a:rPr lang="en-US" sz="1288" dirty="0">
                          <a:solidFill>
                            <a:srgbClr val="1420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predicted gland region fed into the nodule branch; size-aware loss</a:t>
                      </a:r>
                      <a:endParaRPr lang="en-US" sz="1288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243" marR="57243" marT="57243" marB="57243">
                    <a:lnL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03"/>
                        </a:lnSpc>
                        <a:buNone/>
                      </a:pPr>
                      <a:r>
                        <a:rPr lang="en-US" sz="1288" dirty="0">
                          <a:solidFill>
                            <a:srgbClr val="1420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does the architecture help? (clean: +5% params)</a:t>
                      </a:r>
                      <a:endParaRPr lang="en-US" sz="1288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243" marR="57243" marT="57243" marB="57243">
                    <a:lnL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815975" y="4619278"/>
            <a:ext cx="3397250" cy="1219547"/>
          </a:xfrm>
          <a:prstGeom prst="roundRect">
            <a:avLst>
              <a:gd name="adj" fmla="val 5988"/>
            </a:avLst>
          </a:prstGeom>
          <a:solidFill>
            <a:srgbClr val="F1F0E8"/>
          </a:solidFill>
          <a:ln w="6350">
            <a:solidFill>
              <a:srgbClr val="DCDBD1"/>
            </a:solidFill>
            <a:prstDash val="solid"/>
          </a:ln>
        </p:spPr>
        <p:txBody>
          <a:bodyPr/>
          <a:lstStyle/>
          <a:p>
            <a:endParaRPr lang="en-TW"/>
          </a:p>
        </p:txBody>
      </p:sp>
      <p:sp>
        <p:nvSpPr>
          <p:cNvPr id="9" name="Text 6"/>
          <p:cNvSpPr/>
          <p:nvPr/>
        </p:nvSpPr>
        <p:spPr>
          <a:xfrm>
            <a:off x="1022350" y="4825653"/>
            <a:ext cx="3074035" cy="2052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423"/>
              </a:lnSpc>
              <a:buNone/>
            </a:pPr>
            <a:r>
              <a:rPr lang="en-US" sz="1186" b="1" dirty="0">
                <a:solidFill>
                  <a:srgbClr val="14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Evaluation</a:t>
            </a:r>
            <a:endParaRPr lang="en-US" sz="1186" dirty="0"/>
          </a:p>
        </p:txBody>
      </p:sp>
      <p:sp>
        <p:nvSpPr>
          <p:cNvPr id="10" name="Text 7"/>
          <p:cNvSpPr/>
          <p:nvPr/>
        </p:nvSpPr>
        <p:spPr>
          <a:xfrm>
            <a:off x="1022350" y="5068987"/>
            <a:ext cx="3074035" cy="5888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52"/>
              </a:lnSpc>
              <a:buNone/>
            </a:pPr>
            <a:r>
              <a:rPr lang="en-US" sz="115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TN3K test set, 614 cases, 5 folds. Gland head checked separately on TG3K videos 14–15.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4397375" y="4619278"/>
            <a:ext cx="3397250" cy="1219547"/>
          </a:xfrm>
          <a:prstGeom prst="roundRect">
            <a:avLst>
              <a:gd name="adj" fmla="val 5988"/>
            </a:avLst>
          </a:prstGeom>
          <a:solidFill>
            <a:srgbClr val="F1F0E8"/>
          </a:solidFill>
          <a:ln w="6350">
            <a:solidFill>
              <a:srgbClr val="DCDBD1"/>
            </a:solidFill>
            <a:prstDash val="solid"/>
          </a:ln>
        </p:spPr>
        <p:txBody>
          <a:bodyPr/>
          <a:lstStyle/>
          <a:p>
            <a:endParaRPr lang="en-TW"/>
          </a:p>
        </p:txBody>
      </p:sp>
      <p:sp>
        <p:nvSpPr>
          <p:cNvPr id="12" name="Text 9"/>
          <p:cNvSpPr/>
          <p:nvPr/>
        </p:nvSpPr>
        <p:spPr>
          <a:xfrm>
            <a:off x="4603750" y="4825653"/>
            <a:ext cx="3074035" cy="2052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423"/>
              </a:lnSpc>
              <a:buNone/>
            </a:pPr>
            <a:r>
              <a:rPr lang="en-US" sz="1186" b="1" dirty="0">
                <a:solidFill>
                  <a:srgbClr val="14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pipeline</a:t>
            </a:r>
            <a:endParaRPr lang="en-US" sz="1186" dirty="0"/>
          </a:p>
        </p:txBody>
      </p:sp>
      <p:sp>
        <p:nvSpPr>
          <p:cNvPr id="13" name="Text 10"/>
          <p:cNvSpPr/>
          <p:nvPr/>
        </p:nvSpPr>
        <p:spPr>
          <a:xfrm>
            <a:off x="4603750" y="5068987"/>
            <a:ext cx="3074035" cy="5888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486"/>
              </a:lnSpc>
              <a:buNone/>
            </a:pPr>
            <a:r>
              <a:rPr lang="en-US" sz="1101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row scored by the same </a:t>
            </a:r>
            <a:r>
              <a:rPr lang="en-US" sz="1101" b="1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predict.py → score.py</a:t>
            </a:r>
            <a:r>
              <a:rPr lang="en-US" sz="1101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path; the scorer contains no model code.</a:t>
            </a:r>
            <a:endParaRPr lang="en-US" sz="1101" dirty="0"/>
          </a:p>
        </p:txBody>
      </p:sp>
      <p:sp>
        <p:nvSpPr>
          <p:cNvPr id="14" name="Shape 11"/>
          <p:cNvSpPr/>
          <p:nvPr/>
        </p:nvSpPr>
        <p:spPr>
          <a:xfrm>
            <a:off x="7978775" y="4619278"/>
            <a:ext cx="3397250" cy="1219547"/>
          </a:xfrm>
          <a:prstGeom prst="roundRect">
            <a:avLst>
              <a:gd name="adj" fmla="val 5988"/>
            </a:avLst>
          </a:prstGeom>
          <a:solidFill>
            <a:srgbClr val="F1F0E8"/>
          </a:solidFill>
          <a:ln w="6350">
            <a:solidFill>
              <a:srgbClr val="DCDBD1"/>
            </a:solidFill>
            <a:prstDash val="solid"/>
          </a:ln>
        </p:spPr>
        <p:txBody>
          <a:bodyPr/>
          <a:lstStyle/>
          <a:p>
            <a:endParaRPr lang="en-TW"/>
          </a:p>
        </p:txBody>
      </p:sp>
      <p:sp>
        <p:nvSpPr>
          <p:cNvPr id="15" name="Text 12"/>
          <p:cNvSpPr/>
          <p:nvPr/>
        </p:nvSpPr>
        <p:spPr>
          <a:xfrm>
            <a:off x="8185150" y="4825653"/>
            <a:ext cx="3074035" cy="2052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423"/>
              </a:lnSpc>
              <a:buNone/>
            </a:pPr>
            <a:r>
              <a:rPr lang="en-US" sz="1186" b="1" dirty="0">
                <a:solidFill>
                  <a:srgbClr val="14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rule</a:t>
            </a:r>
            <a:endParaRPr lang="en-US" sz="1186" dirty="0"/>
          </a:p>
        </p:txBody>
      </p:sp>
      <p:sp>
        <p:nvSpPr>
          <p:cNvPr id="16" name="Text 13"/>
          <p:cNvSpPr/>
          <p:nvPr/>
        </p:nvSpPr>
        <p:spPr>
          <a:xfrm>
            <a:off x="8185150" y="5068987"/>
            <a:ext cx="3074035" cy="5888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85"/>
              </a:lnSpc>
              <a:buNone/>
            </a:pPr>
            <a:r>
              <a:rPr lang="en-US" sz="1174" b="1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0.014 Dice</a:t>
            </a:r>
            <a:r>
              <a:rPr lang="en-US" sz="1174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fixed before any multi-task result was seen, from the U-Net fold-to-fold spread.</a:t>
            </a:r>
            <a:endParaRPr lang="en-US" sz="1174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DB2D661-A65C-115F-365A-292632F894C6}"/>
              </a:ext>
            </a:extLst>
          </p:cNvPr>
          <p:cNvSpPr txBox="1"/>
          <p:nvPr/>
        </p:nvSpPr>
        <p:spPr>
          <a:xfrm>
            <a:off x="1404711" y="6197600"/>
            <a:ext cx="2808514" cy="3722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TW" sz="1800" b="0" i="0" dirty="0">
                <a:solidFill>
                  <a:schemeClr val="tx1"/>
                </a:solidFill>
                <a:effectLst/>
                <a:latin typeface="+mn-lt"/>
              </a:rPr>
              <a:t>U-Net widened to 43.2 M</a:t>
            </a:r>
            <a:endParaRPr lang="en-TW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1F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072370" cy="2950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22"/>
              </a:lnSpc>
              <a:buNone/>
            </a:pPr>
            <a:r>
              <a:rPr lang="en-US" sz="1845" b="1" i="0" dirty="0">
                <a:solidFill>
                  <a:srgbClr val="14202E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Q1 · Which model should be the working baseline?</a:t>
            </a:r>
            <a:endParaRPr lang="en-US" sz="1845" dirty="0"/>
          </a:p>
        </p:txBody>
      </p:sp>
      <p:sp>
        <p:nvSpPr>
          <p:cNvPr id="3" name="Shape 1"/>
          <p:cNvSpPr/>
          <p:nvPr/>
        </p:nvSpPr>
        <p:spPr>
          <a:xfrm>
            <a:off x="831850" y="1298327"/>
            <a:ext cx="0" cy="482600"/>
          </a:xfrm>
          <a:prstGeom prst="line">
            <a:avLst/>
          </a:prstGeom>
          <a:noFill/>
          <a:ln w="38100">
            <a:solidFill>
              <a:srgbClr val="1F5FA0"/>
            </a:solidFill>
            <a:prstDash val="solid"/>
          </a:ln>
        </p:spPr>
        <p:txBody>
          <a:bodyPr/>
          <a:lstStyle/>
          <a:p>
            <a:endParaRPr lang="en-TW"/>
          </a:p>
        </p:txBody>
      </p:sp>
      <p:sp>
        <p:nvSpPr>
          <p:cNvPr id="4" name="Text 2"/>
          <p:cNvSpPr/>
          <p:nvPr/>
        </p:nvSpPr>
        <p:spPr>
          <a:xfrm>
            <a:off x="1028700" y="1323727"/>
            <a:ext cx="1007237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82"/>
              </a:lnSpc>
              <a:buNone/>
            </a:pPr>
            <a:r>
              <a:rPr lang="en-US" sz="1679" b="1" dirty="0">
                <a:solidFill>
                  <a:srgbClr val="14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MTNet.</a:t>
            </a:r>
            <a:r>
              <a:rPr lang="en-US" sz="1679" dirty="0">
                <a:solidFill>
                  <a:srgbClr val="14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It delivers the whole reproducible gain, is statistically equal to TRFE+, and costs less.</a:t>
            </a:r>
            <a:endParaRPr lang="en-US" sz="1679" dirty="0"/>
          </a:p>
        </p:txBody>
      </p:sp>
      <p:sp>
        <p:nvSpPr>
          <p:cNvPr id="5" name="Shape 3"/>
          <p:cNvSpPr/>
          <p:nvPr/>
        </p:nvSpPr>
        <p:spPr>
          <a:xfrm>
            <a:off x="812800" y="2003177"/>
            <a:ext cx="10566400" cy="0"/>
          </a:xfrm>
          <a:prstGeom prst="line">
            <a:avLst/>
          </a:prstGeom>
          <a:noFill/>
          <a:ln w="12700">
            <a:solidFill>
              <a:srgbClr val="141413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en-TW"/>
          </a:p>
        </p:txBody>
      </p:sp>
      <p:sp>
        <p:nvSpPr>
          <p:cNvPr id="6" name="Shape 4"/>
          <p:cNvSpPr/>
          <p:nvPr/>
        </p:nvSpPr>
        <p:spPr>
          <a:xfrm>
            <a:off x="819150" y="1996827"/>
            <a:ext cx="0" cy="2427585"/>
          </a:xfrm>
          <a:prstGeom prst="line">
            <a:avLst/>
          </a:prstGeom>
          <a:noFill/>
          <a:ln w="12700">
            <a:solidFill>
              <a:srgbClr val="141413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en-TW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39800" y="2111127"/>
          <a:ext cx="10325100" cy="2211684"/>
        </p:xfrm>
        <a:graphic>
          <a:graphicData uri="http://schemas.openxmlformats.org/drawingml/2006/table">
            <a:tbl>
              <a:tblPr/>
              <a:tblGrid>
                <a:gridCol w="351053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7152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7152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7152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76423">
                <a:tc>
                  <a:txBody>
                    <a:bodyPr/>
                    <a:lstStyle/>
                    <a:p>
                      <a:pPr marL="0" indent="0">
                        <a:lnSpc>
                          <a:spcPts val="1382"/>
                        </a:lnSpc>
                        <a:buNone/>
                      </a:pPr>
                      <a:r>
                        <a:rPr lang="en-US" sz="987" b="1" dirty="0">
                          <a:solidFill>
                            <a:srgbClr val="1420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Measured on TN3K test, 5 folds</a:t>
                      </a:r>
                      <a:endParaRPr lang="en-US" sz="987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3880" marR="43880" marT="43880" marB="43880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B2B2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B2B2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DED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382"/>
                        </a:lnSpc>
                        <a:buNone/>
                      </a:pPr>
                      <a:r>
                        <a:rPr lang="en-US" sz="987" b="1" dirty="0">
                          <a:solidFill>
                            <a:srgbClr val="1420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U-Net</a:t>
                      </a:r>
                      <a:endParaRPr lang="en-US" sz="987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3880" marR="43880" marT="43880" marB="43880">
                    <a:lnL w="12700" cap="flat" cmpd="sng" algn="ctr">
                      <a:solidFill>
                        <a:srgbClr val="B2B2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2B2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B2B2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DED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382"/>
                        </a:lnSpc>
                        <a:buNone/>
                      </a:pPr>
                      <a:r>
                        <a:rPr lang="en-US" sz="987" b="1" dirty="0">
                          <a:solidFill>
                            <a:srgbClr val="1420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MTNet — adopted</a:t>
                      </a:r>
                      <a:endParaRPr lang="en-US" sz="987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3880" marR="43880" marT="43880" marB="43880">
                    <a:lnL w="12700" cap="flat" cmpd="sng" algn="ctr">
                      <a:solidFill>
                        <a:srgbClr val="B2B2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2B2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B2B2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DED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382"/>
                        </a:lnSpc>
                        <a:buNone/>
                      </a:pPr>
                      <a:r>
                        <a:rPr lang="en-US" sz="987" b="1" dirty="0">
                          <a:solidFill>
                            <a:srgbClr val="1420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TRFE+</a:t>
                      </a:r>
                      <a:endParaRPr lang="en-US" sz="987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3880" marR="43880" marT="43880" marB="43880">
                    <a:lnL w="12700" cap="flat" cmpd="sng" algn="ctr">
                      <a:solidFill>
                        <a:srgbClr val="B2B2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2B2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B2B2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DED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6423">
                <a:tc>
                  <a:txBody>
                    <a:bodyPr/>
                    <a:lstStyle/>
                    <a:p>
                      <a:pPr marL="0" indent="0">
                        <a:lnSpc>
                          <a:spcPts val="1382"/>
                        </a:lnSpc>
                        <a:buNone/>
                      </a:pPr>
                      <a:r>
                        <a:rPr lang="en-US" sz="987" dirty="0">
                          <a:solidFill>
                            <a:srgbClr val="1420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Nodule Dice (higher better)</a:t>
                      </a:r>
                      <a:endParaRPr lang="en-US" sz="987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3880" marR="43880" marT="43880" marB="43880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0C0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2B2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382"/>
                        </a:lnSpc>
                        <a:buNone/>
                      </a:pPr>
                      <a:r>
                        <a:rPr lang="en-US" sz="987" dirty="0">
                          <a:solidFill>
                            <a:srgbClr val="1420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0.7805</a:t>
                      </a:r>
                      <a:endParaRPr lang="en-US" sz="987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3880" marR="43880" marT="43880" marB="43880">
                    <a:lnL w="12700" cap="flat" cmpd="sng" algn="ctr">
                      <a:solidFill>
                        <a:srgbClr val="C0C0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2B2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382"/>
                        </a:lnSpc>
                        <a:buNone/>
                      </a:pPr>
                      <a:r>
                        <a:rPr lang="en-US" sz="987" dirty="0">
                          <a:solidFill>
                            <a:srgbClr val="1420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0.7991</a:t>
                      </a:r>
                      <a:endParaRPr lang="en-US" sz="987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3880" marR="43880" marT="43880" marB="43880">
                    <a:lnL w="12700" cap="flat" cmpd="sng" algn="ctr">
                      <a:solidFill>
                        <a:srgbClr val="C0C0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2B2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382"/>
                        </a:lnSpc>
                        <a:buNone/>
                      </a:pPr>
                      <a:r>
                        <a:rPr lang="en-US" sz="987" dirty="0">
                          <a:solidFill>
                            <a:srgbClr val="1F5FA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0.8035 — best</a:t>
                      </a:r>
                      <a:endParaRPr lang="en-US" sz="987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3880" marR="43880" marT="43880" marB="43880">
                    <a:lnL w="12700" cap="flat" cmpd="sng" algn="ctr">
                      <a:solidFill>
                        <a:srgbClr val="C0C0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2B2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6473">
                <a:tc>
                  <a:txBody>
                    <a:bodyPr/>
                    <a:lstStyle/>
                    <a:p>
                      <a:pPr marL="0" indent="0">
                        <a:lnSpc>
                          <a:spcPts val="1382"/>
                        </a:lnSpc>
                        <a:buNone/>
                      </a:pPr>
                      <a:r>
                        <a:rPr lang="en-US" sz="987" dirty="0">
                          <a:solidFill>
                            <a:srgbClr val="1420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IoU (higher better)</a:t>
                      </a:r>
                      <a:endParaRPr lang="en-US" sz="987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3880" marR="43880" marT="43880" marB="43880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0C0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382"/>
                        </a:lnSpc>
                        <a:buNone/>
                      </a:pPr>
                      <a:r>
                        <a:rPr lang="en-US" sz="987" dirty="0">
                          <a:solidFill>
                            <a:srgbClr val="1420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0.6824</a:t>
                      </a:r>
                      <a:endParaRPr lang="en-US" sz="987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3880" marR="43880" marT="43880" marB="43880">
                    <a:lnL w="12700" cap="flat" cmpd="sng" algn="ctr">
                      <a:solidFill>
                        <a:srgbClr val="C0C0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382"/>
                        </a:lnSpc>
                        <a:buNone/>
                      </a:pPr>
                      <a:r>
                        <a:rPr lang="en-US" sz="987" dirty="0">
                          <a:solidFill>
                            <a:srgbClr val="1F5FA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0.7078 — best</a:t>
                      </a:r>
                      <a:endParaRPr lang="en-US" sz="987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3880" marR="43880" marT="43880" marB="43880">
                    <a:lnL w="12700" cap="flat" cmpd="sng" algn="ctr">
                      <a:solidFill>
                        <a:srgbClr val="C0C0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382"/>
                        </a:lnSpc>
                        <a:buNone/>
                      </a:pPr>
                      <a:r>
                        <a:rPr lang="en-US" sz="987" dirty="0">
                          <a:solidFill>
                            <a:srgbClr val="1420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0.7077</a:t>
                      </a:r>
                      <a:endParaRPr lang="en-US" sz="987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3880" marR="43880" marT="43880" marB="43880">
                    <a:lnL w="12700" cap="flat" cmpd="sng" algn="ctr">
                      <a:solidFill>
                        <a:srgbClr val="C0C0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6473">
                <a:tc>
                  <a:txBody>
                    <a:bodyPr/>
                    <a:lstStyle/>
                    <a:p>
                      <a:pPr marL="0" indent="0">
                        <a:lnSpc>
                          <a:spcPts val="1382"/>
                        </a:lnSpc>
                        <a:buNone/>
                      </a:pPr>
                      <a:r>
                        <a:rPr lang="en-US" sz="987" dirty="0">
                          <a:solidFill>
                            <a:srgbClr val="1420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HD95 px (lower better)</a:t>
                      </a:r>
                      <a:endParaRPr lang="en-US" sz="987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3880" marR="43880" marT="43880" marB="43880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0C0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382"/>
                        </a:lnSpc>
                        <a:buNone/>
                      </a:pPr>
                      <a:r>
                        <a:rPr lang="en-US" sz="987" dirty="0">
                          <a:solidFill>
                            <a:srgbClr val="1420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25.51</a:t>
                      </a:r>
                      <a:endParaRPr lang="en-US" sz="987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3880" marR="43880" marT="43880" marB="43880">
                    <a:lnL w="12700" cap="flat" cmpd="sng" algn="ctr">
                      <a:solidFill>
                        <a:srgbClr val="C0C0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382"/>
                        </a:lnSpc>
                        <a:buNone/>
                      </a:pPr>
                      <a:r>
                        <a:rPr lang="en-US" sz="987" dirty="0">
                          <a:solidFill>
                            <a:srgbClr val="1F5FA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21.18 — best</a:t>
                      </a:r>
                      <a:endParaRPr lang="en-US" sz="987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3880" marR="43880" marT="43880" marB="43880">
                    <a:lnL w="12700" cap="flat" cmpd="sng" algn="ctr">
                      <a:solidFill>
                        <a:srgbClr val="C0C0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382"/>
                        </a:lnSpc>
                        <a:buNone/>
                      </a:pPr>
                      <a:r>
                        <a:rPr lang="en-US" sz="987" dirty="0">
                          <a:solidFill>
                            <a:srgbClr val="1420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21.59</a:t>
                      </a:r>
                      <a:endParaRPr lang="en-US" sz="987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3880" marR="43880" marT="43880" marB="43880">
                    <a:lnL w="12700" cap="flat" cmpd="sng" algn="ctr">
                      <a:solidFill>
                        <a:srgbClr val="C0C0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6473">
                <a:tc>
                  <a:txBody>
                    <a:bodyPr/>
                    <a:lstStyle/>
                    <a:p>
                      <a:pPr marL="0" indent="0">
                        <a:lnSpc>
                          <a:spcPts val="1382"/>
                        </a:lnSpc>
                        <a:buNone/>
                      </a:pPr>
                      <a:r>
                        <a:rPr lang="en-US" sz="987" dirty="0">
                          <a:solidFill>
                            <a:srgbClr val="1420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Fold-to-fold SD of Dice (lower better)</a:t>
                      </a:r>
                      <a:endParaRPr lang="en-US" sz="987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3880" marR="43880" marT="43880" marB="43880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0C0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382"/>
                        </a:lnSpc>
                        <a:buNone/>
                      </a:pPr>
                      <a:r>
                        <a:rPr lang="en-US" sz="987" dirty="0">
                          <a:solidFill>
                            <a:srgbClr val="1F5FA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0.0067 — best</a:t>
                      </a:r>
                      <a:endParaRPr lang="en-US" sz="987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3880" marR="43880" marT="43880" marB="43880">
                    <a:lnL w="12700" cap="flat" cmpd="sng" algn="ctr">
                      <a:solidFill>
                        <a:srgbClr val="C0C0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382"/>
                        </a:lnSpc>
                        <a:buNone/>
                      </a:pPr>
                      <a:r>
                        <a:rPr lang="en-US" sz="987" dirty="0">
                          <a:solidFill>
                            <a:srgbClr val="1420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0.0079</a:t>
                      </a:r>
                      <a:endParaRPr lang="en-US" sz="987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3880" marR="43880" marT="43880" marB="43880">
                    <a:lnL w="12700" cap="flat" cmpd="sng" algn="ctr">
                      <a:solidFill>
                        <a:srgbClr val="C0C0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382"/>
                        </a:lnSpc>
                        <a:buNone/>
                      </a:pPr>
                      <a:r>
                        <a:rPr lang="en-US" sz="987" dirty="0">
                          <a:solidFill>
                            <a:srgbClr val="1420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0.0106</a:t>
                      </a:r>
                      <a:endParaRPr lang="en-US" sz="987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3880" marR="43880" marT="43880" marB="43880">
                    <a:lnL w="12700" cap="flat" cmpd="sng" algn="ctr">
                      <a:solidFill>
                        <a:srgbClr val="C0C0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6473">
                <a:tc>
                  <a:txBody>
                    <a:bodyPr/>
                    <a:lstStyle/>
                    <a:p>
                      <a:pPr marL="0" indent="0">
                        <a:lnSpc>
                          <a:spcPts val="1382"/>
                        </a:lnSpc>
                        <a:buNone/>
                      </a:pPr>
                      <a:r>
                        <a:rPr lang="en-US" sz="987" dirty="0">
                          <a:solidFill>
                            <a:srgbClr val="1420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Fold-to-fold SD of HD95 (lower better)</a:t>
                      </a:r>
                      <a:endParaRPr lang="en-US" sz="987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3880" marR="43880" marT="43880" marB="43880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0C0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382"/>
                        </a:lnSpc>
                        <a:buNone/>
                      </a:pPr>
                      <a:r>
                        <a:rPr lang="en-US" sz="987" dirty="0">
                          <a:solidFill>
                            <a:srgbClr val="1420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1.62</a:t>
                      </a:r>
                      <a:endParaRPr lang="en-US" sz="987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3880" marR="43880" marT="43880" marB="43880">
                    <a:lnL w="12700" cap="flat" cmpd="sng" algn="ctr">
                      <a:solidFill>
                        <a:srgbClr val="C0C0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382"/>
                        </a:lnSpc>
                        <a:buNone/>
                      </a:pPr>
                      <a:r>
                        <a:rPr lang="en-US" sz="987" dirty="0">
                          <a:solidFill>
                            <a:srgbClr val="1F5FA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0.36 — best</a:t>
                      </a:r>
                      <a:endParaRPr lang="en-US" sz="987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3880" marR="43880" marT="43880" marB="43880">
                    <a:lnL w="12700" cap="flat" cmpd="sng" algn="ctr">
                      <a:solidFill>
                        <a:srgbClr val="C0C0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382"/>
                        </a:lnSpc>
                        <a:buNone/>
                      </a:pPr>
                      <a:r>
                        <a:rPr lang="en-US" sz="987" dirty="0">
                          <a:solidFill>
                            <a:srgbClr val="1420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1.08</a:t>
                      </a:r>
                      <a:endParaRPr lang="en-US" sz="987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3880" marR="43880" marT="43880" marB="43880">
                    <a:lnL w="12700" cap="flat" cmpd="sng" algn="ctr">
                      <a:solidFill>
                        <a:srgbClr val="C0C0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6473">
                <a:tc>
                  <a:txBody>
                    <a:bodyPr/>
                    <a:lstStyle/>
                    <a:p>
                      <a:pPr marL="0" indent="0">
                        <a:lnSpc>
                          <a:spcPts val="1382"/>
                        </a:lnSpc>
                        <a:buNone/>
                      </a:pPr>
                      <a:r>
                        <a:rPr lang="en-US" sz="987" dirty="0">
                          <a:solidFill>
                            <a:srgbClr val="1420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Parameters</a:t>
                      </a:r>
                      <a:endParaRPr lang="en-US" sz="987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3880" marR="43880" marT="43880" marB="43880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0C0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382"/>
                        </a:lnSpc>
                        <a:buNone/>
                      </a:pPr>
                      <a:r>
                        <a:rPr lang="en-US" sz="987" dirty="0">
                          <a:solidFill>
                            <a:srgbClr val="1F5FA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31.0 M — least</a:t>
                      </a:r>
                      <a:endParaRPr lang="en-US" sz="987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3880" marR="43880" marT="43880" marB="43880">
                    <a:lnL w="12700" cap="flat" cmpd="sng" algn="ctr">
                      <a:solidFill>
                        <a:srgbClr val="C0C0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382"/>
                        </a:lnSpc>
                        <a:buNone/>
                      </a:pPr>
                      <a:r>
                        <a:rPr lang="en-US" sz="987" dirty="0">
                          <a:solidFill>
                            <a:srgbClr val="1420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43.2 M</a:t>
                      </a:r>
                      <a:endParaRPr lang="en-US" sz="987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3880" marR="43880" marT="43880" marB="43880">
                    <a:lnL w="12700" cap="flat" cmpd="sng" algn="ctr">
                      <a:solidFill>
                        <a:srgbClr val="C0C0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382"/>
                        </a:lnSpc>
                        <a:buNone/>
                      </a:pPr>
                      <a:r>
                        <a:rPr lang="en-US" sz="987" dirty="0">
                          <a:solidFill>
                            <a:srgbClr val="1420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45.4 M</a:t>
                      </a:r>
                      <a:endParaRPr lang="en-US" sz="987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3880" marR="43880" marT="43880" marB="43880">
                    <a:lnL w="12700" cap="flat" cmpd="sng" algn="ctr">
                      <a:solidFill>
                        <a:srgbClr val="C0C0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6473">
                <a:tc>
                  <a:txBody>
                    <a:bodyPr/>
                    <a:lstStyle/>
                    <a:p>
                      <a:pPr marL="0" indent="0">
                        <a:lnSpc>
                          <a:spcPts val="1382"/>
                        </a:lnSpc>
                        <a:buNone/>
                      </a:pPr>
                      <a:r>
                        <a:rPr lang="en-US" sz="987" dirty="0">
                          <a:solidFill>
                            <a:srgbClr val="1420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Training time per epoch</a:t>
                      </a:r>
                      <a:endParaRPr lang="en-US" sz="987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3880" marR="43880" marT="43880" marB="43880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0C0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382"/>
                        </a:lnSpc>
                        <a:buNone/>
                      </a:pPr>
                      <a:r>
                        <a:rPr lang="en-US" sz="987" dirty="0">
                          <a:solidFill>
                            <a:srgbClr val="1F5FA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~56 s</a:t>
                      </a:r>
                      <a:endParaRPr lang="en-US" sz="987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3880" marR="43880" marT="43880" marB="43880">
                    <a:lnL w="12700" cap="flat" cmpd="sng" algn="ctr">
                      <a:solidFill>
                        <a:srgbClr val="C0C0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382"/>
                        </a:lnSpc>
                        <a:buNone/>
                      </a:pPr>
                      <a:r>
                        <a:rPr lang="en-US" sz="987" dirty="0">
                          <a:solidFill>
                            <a:srgbClr val="1F5FA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~56 s</a:t>
                      </a:r>
                      <a:endParaRPr lang="en-US" sz="987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3880" marR="43880" marT="43880" marB="43880">
                    <a:lnL w="12700" cap="flat" cmpd="sng" algn="ctr">
                      <a:solidFill>
                        <a:srgbClr val="C0C0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382"/>
                        </a:lnSpc>
                        <a:buNone/>
                      </a:pPr>
                      <a:r>
                        <a:rPr lang="en-US" sz="987" dirty="0">
                          <a:solidFill>
                            <a:srgbClr val="1420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~101 s</a:t>
                      </a:r>
                      <a:endParaRPr lang="en-US" sz="987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3880" marR="43880" marT="43880" marB="43880">
                    <a:lnL w="12700" cap="flat" cmpd="sng" algn="ctr">
                      <a:solidFill>
                        <a:srgbClr val="C0C0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815975" y="4643487"/>
            <a:ext cx="3397250" cy="1195338"/>
          </a:xfrm>
          <a:prstGeom prst="roundRect">
            <a:avLst>
              <a:gd name="adj" fmla="val 6109"/>
            </a:avLst>
          </a:prstGeom>
          <a:solidFill>
            <a:srgbClr val="FAFAF7"/>
          </a:solidFill>
          <a:ln w="6350">
            <a:solidFill>
              <a:srgbClr val="DCDBD1"/>
            </a:solidFill>
            <a:prstDash val="solid"/>
          </a:ln>
        </p:spPr>
        <p:txBody>
          <a:bodyPr/>
          <a:lstStyle/>
          <a:p>
            <a:endParaRPr lang="en-TW"/>
          </a:p>
        </p:txBody>
      </p:sp>
      <p:sp>
        <p:nvSpPr>
          <p:cNvPr id="9" name="Text 6"/>
          <p:cNvSpPr/>
          <p:nvPr/>
        </p:nvSpPr>
        <p:spPr>
          <a:xfrm>
            <a:off x="1009650" y="4837162"/>
            <a:ext cx="3100197" cy="20548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423"/>
              </a:lnSpc>
              <a:buNone/>
            </a:pPr>
            <a:r>
              <a:rPr lang="en-US" sz="1186" b="1" dirty="0">
                <a:solidFill>
                  <a:srgbClr val="14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Equal, so take the cheaper</a:t>
            </a:r>
            <a:endParaRPr lang="en-US" sz="1186" dirty="0"/>
          </a:p>
        </p:txBody>
      </p:sp>
      <p:sp>
        <p:nvSpPr>
          <p:cNvPr id="10" name="Text 7"/>
          <p:cNvSpPr/>
          <p:nvPr/>
        </p:nvSpPr>
        <p:spPr>
          <a:xfrm>
            <a:off x="1009650" y="5080744"/>
            <a:ext cx="3100197" cy="5898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486"/>
              </a:lnSpc>
              <a:buNone/>
            </a:pPr>
            <a:r>
              <a:rPr lang="en-US" sz="1101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TRFE+'s Dice lead is not demonstrable; paying +2.2 M parameters and 2× training time for it is a poor trade.</a:t>
            </a:r>
            <a:endParaRPr lang="en-US" sz="1101" dirty="0"/>
          </a:p>
        </p:txBody>
      </p:sp>
      <p:sp>
        <p:nvSpPr>
          <p:cNvPr id="11" name="Shape 8"/>
          <p:cNvSpPr/>
          <p:nvPr/>
        </p:nvSpPr>
        <p:spPr>
          <a:xfrm>
            <a:off x="4397375" y="4643487"/>
            <a:ext cx="3397250" cy="1195338"/>
          </a:xfrm>
          <a:prstGeom prst="roundRect">
            <a:avLst>
              <a:gd name="adj" fmla="val 6109"/>
            </a:avLst>
          </a:prstGeom>
          <a:solidFill>
            <a:srgbClr val="FAFAF7"/>
          </a:solidFill>
          <a:ln w="6350">
            <a:solidFill>
              <a:srgbClr val="DCDBD1"/>
            </a:solidFill>
            <a:prstDash val="solid"/>
          </a:ln>
        </p:spPr>
        <p:txBody>
          <a:bodyPr/>
          <a:lstStyle/>
          <a:p>
            <a:endParaRPr lang="en-TW"/>
          </a:p>
        </p:txBody>
      </p:sp>
      <p:sp>
        <p:nvSpPr>
          <p:cNvPr id="12" name="Text 9"/>
          <p:cNvSpPr/>
          <p:nvPr/>
        </p:nvSpPr>
        <p:spPr>
          <a:xfrm>
            <a:off x="4591050" y="4837162"/>
            <a:ext cx="3100197" cy="20548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423"/>
              </a:lnSpc>
              <a:buNone/>
            </a:pPr>
            <a:r>
              <a:rPr lang="en-US" sz="1186" b="1" dirty="0">
                <a:solidFill>
                  <a:srgbClr val="14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Boundary stability</a:t>
            </a:r>
            <a:endParaRPr lang="en-US" sz="1186" dirty="0"/>
          </a:p>
        </p:txBody>
      </p:sp>
      <p:sp>
        <p:nvSpPr>
          <p:cNvPr id="13" name="Text 10"/>
          <p:cNvSpPr/>
          <p:nvPr/>
        </p:nvSpPr>
        <p:spPr>
          <a:xfrm>
            <a:off x="4591050" y="5080744"/>
            <a:ext cx="3100197" cy="5898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486"/>
              </a:lnSpc>
              <a:buNone/>
            </a:pPr>
            <a:r>
              <a:rPr lang="en-US" sz="1101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MTNet's HD95 varies by ±0.36 px across folds against U-Net's ±1.62 — relevant for a measurement device.</a:t>
            </a:r>
            <a:endParaRPr lang="en-US" sz="1101" dirty="0"/>
          </a:p>
        </p:txBody>
      </p:sp>
      <p:sp>
        <p:nvSpPr>
          <p:cNvPr id="14" name="Shape 11"/>
          <p:cNvSpPr/>
          <p:nvPr/>
        </p:nvSpPr>
        <p:spPr>
          <a:xfrm>
            <a:off x="7978775" y="4643487"/>
            <a:ext cx="3397250" cy="1195338"/>
          </a:xfrm>
          <a:prstGeom prst="roundRect">
            <a:avLst>
              <a:gd name="adj" fmla="val 6109"/>
            </a:avLst>
          </a:prstGeom>
          <a:solidFill>
            <a:srgbClr val="FAFAF7"/>
          </a:solidFill>
          <a:ln w="6350">
            <a:solidFill>
              <a:srgbClr val="DCDBD1"/>
            </a:solidFill>
            <a:prstDash val="solid"/>
          </a:ln>
        </p:spPr>
        <p:txBody>
          <a:bodyPr/>
          <a:lstStyle/>
          <a:p>
            <a:endParaRPr lang="en-TW"/>
          </a:p>
        </p:txBody>
      </p:sp>
      <p:sp>
        <p:nvSpPr>
          <p:cNvPr id="15" name="Text 12"/>
          <p:cNvSpPr/>
          <p:nvPr/>
        </p:nvSpPr>
        <p:spPr>
          <a:xfrm>
            <a:off x="8172450" y="4837162"/>
            <a:ext cx="3100197" cy="169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171"/>
              </a:lnSpc>
              <a:buNone/>
            </a:pPr>
            <a:r>
              <a:rPr lang="en-US" sz="976" b="1" dirty="0">
                <a:solidFill>
                  <a:srgbClr val="14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still gets reported</a:t>
            </a:r>
            <a:endParaRPr lang="en-US" sz="976" dirty="0"/>
          </a:p>
        </p:txBody>
      </p:sp>
      <p:sp>
        <p:nvSpPr>
          <p:cNvPr id="16" name="Text 13"/>
          <p:cNvSpPr/>
          <p:nvPr/>
        </p:nvSpPr>
        <p:spPr>
          <a:xfrm>
            <a:off x="8172450" y="5044430"/>
            <a:ext cx="3100197" cy="626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90"/>
              </a:lnSpc>
              <a:buNone/>
            </a:pPr>
            <a:r>
              <a:rPr lang="en-US" sz="1178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TRFE+ 0.8035 remains the best single number; U-Net stays in the table as the reference that makes the others readable.</a:t>
            </a:r>
            <a:endParaRPr lang="en-US" sz="1178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072370" cy="3192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320"/>
              </a:lnSpc>
              <a:buNone/>
            </a:pPr>
            <a:r>
              <a:rPr lang="en-US" sz="2018" b="1" i="0" dirty="0">
                <a:solidFill>
                  <a:srgbClr val="14202E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Q2 · Does gland supervision help nodule segmentation?</a:t>
            </a:r>
            <a:endParaRPr lang="en-US" sz="2018" dirty="0"/>
          </a:p>
        </p:txBody>
      </p:sp>
      <p:sp>
        <p:nvSpPr>
          <p:cNvPr id="3" name="Shape 1"/>
          <p:cNvSpPr/>
          <p:nvPr/>
        </p:nvSpPr>
        <p:spPr>
          <a:xfrm>
            <a:off x="831850" y="1322536"/>
            <a:ext cx="0" cy="521395"/>
          </a:xfrm>
          <a:prstGeom prst="line">
            <a:avLst/>
          </a:prstGeom>
          <a:noFill/>
          <a:ln w="38100">
            <a:solidFill>
              <a:srgbClr val="1F5FA0"/>
            </a:solidFill>
            <a:prstDash val="solid"/>
          </a:ln>
        </p:spPr>
        <p:txBody>
          <a:bodyPr/>
          <a:lstStyle/>
          <a:p>
            <a:endParaRPr lang="en-TW"/>
          </a:p>
        </p:txBody>
      </p:sp>
      <p:sp>
        <p:nvSpPr>
          <p:cNvPr id="4" name="Text 2"/>
          <p:cNvSpPr/>
          <p:nvPr/>
        </p:nvSpPr>
        <p:spPr>
          <a:xfrm>
            <a:off x="1028700" y="1347936"/>
            <a:ext cx="10072370" cy="4959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89"/>
              </a:lnSpc>
              <a:buNone/>
            </a:pPr>
            <a:r>
              <a:rPr lang="en-US" sz="1684" b="1" dirty="0">
                <a:solidFill>
                  <a:srgbClr val="14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Yes.</a:t>
            </a:r>
            <a:r>
              <a:rPr lang="en-US" sz="1684" dirty="0">
                <a:solidFill>
                  <a:srgbClr val="14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MTNet beats the single-task U-Net by </a:t>
            </a:r>
            <a:r>
              <a:rPr lang="en-US" sz="1684" b="1" dirty="0">
                <a:solidFill>
                  <a:srgbClr val="14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+0.0186 Dice</a:t>
            </a:r>
            <a:r>
              <a:rPr lang="en-US" sz="1684" dirty="0">
                <a:solidFill>
                  <a:srgbClr val="14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on every fold, with all three metrics agreeing.</a:t>
            </a:r>
            <a:endParaRPr lang="en-US" sz="1684" dirty="0"/>
          </a:p>
        </p:txBody>
      </p:sp>
      <p:sp>
        <p:nvSpPr>
          <p:cNvPr id="5" name="Shape 3"/>
          <p:cNvSpPr/>
          <p:nvPr/>
        </p:nvSpPr>
        <p:spPr>
          <a:xfrm>
            <a:off x="812800" y="2066181"/>
            <a:ext cx="10566400" cy="0"/>
          </a:xfrm>
          <a:prstGeom prst="line">
            <a:avLst/>
          </a:prstGeom>
          <a:noFill/>
          <a:ln w="12700">
            <a:solidFill>
              <a:srgbClr val="141413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en-TW"/>
          </a:p>
        </p:txBody>
      </p:sp>
      <p:sp>
        <p:nvSpPr>
          <p:cNvPr id="6" name="Shape 4"/>
          <p:cNvSpPr/>
          <p:nvPr/>
        </p:nvSpPr>
        <p:spPr>
          <a:xfrm>
            <a:off x="819150" y="2059831"/>
            <a:ext cx="0" cy="1976934"/>
          </a:xfrm>
          <a:prstGeom prst="line">
            <a:avLst/>
          </a:prstGeom>
          <a:noFill/>
          <a:ln w="12700">
            <a:solidFill>
              <a:srgbClr val="141413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en-TW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27100" y="2161431"/>
          <a:ext cx="10350500" cy="1786433"/>
        </p:xfrm>
        <a:graphic>
          <a:graphicData uri="http://schemas.openxmlformats.org/drawingml/2006/table">
            <a:tbl>
              <a:tblPr/>
              <a:tblGrid>
                <a:gridCol w="22771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455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4556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4556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4556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4556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34556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91368">
                <a:tc>
                  <a:txBody>
                    <a:bodyPr/>
                    <a:lstStyle/>
                    <a:p>
                      <a:pPr marL="0" indent="0">
                        <a:lnSpc>
                          <a:spcPts val="1740"/>
                        </a:lnSpc>
                        <a:buNone/>
                      </a:pPr>
                      <a:r>
                        <a:rPr lang="en-US" sz="1243" b="1" dirty="0">
                          <a:solidFill>
                            <a:srgbClr val="1420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Nodule Dice</a:t>
                      </a:r>
                      <a:endParaRPr lang="en-US" sz="1243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257" marR="55257" marT="55257" marB="55257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B9B9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B9B9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740"/>
                        </a:lnSpc>
                        <a:buNone/>
                      </a:pPr>
                      <a:r>
                        <a:rPr lang="en-US" sz="1243" b="1" dirty="0">
                          <a:solidFill>
                            <a:srgbClr val="1420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fold 0</a:t>
                      </a:r>
                      <a:endParaRPr lang="en-US" sz="1243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257" marR="55257" marT="55257" marB="55257">
                    <a:lnL w="12700" cap="flat" cmpd="sng" algn="ctr">
                      <a:solidFill>
                        <a:srgbClr val="B9B9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B9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B9B9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740"/>
                        </a:lnSpc>
                        <a:buNone/>
                      </a:pPr>
                      <a:r>
                        <a:rPr lang="en-US" sz="1243" b="1" dirty="0">
                          <a:solidFill>
                            <a:srgbClr val="1420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fold 1</a:t>
                      </a:r>
                      <a:endParaRPr lang="en-US" sz="1243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257" marR="55257" marT="55257" marB="55257">
                    <a:lnL w="12700" cap="flat" cmpd="sng" algn="ctr">
                      <a:solidFill>
                        <a:srgbClr val="B9B9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B9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B9B9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740"/>
                        </a:lnSpc>
                        <a:buNone/>
                      </a:pPr>
                      <a:r>
                        <a:rPr lang="en-US" sz="1243" b="1" dirty="0">
                          <a:solidFill>
                            <a:srgbClr val="1420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fold 2</a:t>
                      </a:r>
                      <a:endParaRPr lang="en-US" sz="1243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257" marR="55257" marT="55257" marB="55257">
                    <a:lnL w="12700" cap="flat" cmpd="sng" algn="ctr">
                      <a:solidFill>
                        <a:srgbClr val="B9B9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B9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B9B9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740"/>
                        </a:lnSpc>
                        <a:buNone/>
                      </a:pPr>
                      <a:r>
                        <a:rPr lang="en-US" sz="1243" b="1" dirty="0">
                          <a:solidFill>
                            <a:srgbClr val="1420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fold 3</a:t>
                      </a:r>
                      <a:endParaRPr lang="en-US" sz="1243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257" marR="55257" marT="55257" marB="55257">
                    <a:lnL w="12700" cap="flat" cmpd="sng" algn="ctr">
                      <a:solidFill>
                        <a:srgbClr val="B9B9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B9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B9B9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740"/>
                        </a:lnSpc>
                        <a:buNone/>
                      </a:pPr>
                      <a:r>
                        <a:rPr lang="en-US" sz="1243" b="1" dirty="0">
                          <a:solidFill>
                            <a:srgbClr val="1420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fold 4</a:t>
                      </a:r>
                      <a:endParaRPr lang="en-US" sz="1243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257" marR="55257" marT="55257" marB="55257">
                    <a:lnL w="12700" cap="flat" cmpd="sng" algn="ctr">
                      <a:solidFill>
                        <a:srgbClr val="B9B9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B9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B9B9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740"/>
                        </a:lnSpc>
                        <a:buNone/>
                      </a:pPr>
                      <a:r>
                        <a:rPr lang="en-US" sz="1243" b="1" dirty="0">
                          <a:solidFill>
                            <a:srgbClr val="1420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mean ± SD</a:t>
                      </a:r>
                      <a:endParaRPr lang="en-US" sz="1243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257" marR="55257" marT="55257" marB="55257">
                    <a:lnL w="12700" cap="flat" cmpd="sng" algn="ctr">
                      <a:solidFill>
                        <a:srgbClr val="B9B9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B9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B9B9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1368">
                <a:tc>
                  <a:txBody>
                    <a:bodyPr/>
                    <a:lstStyle/>
                    <a:p>
                      <a:pPr marL="0" indent="0">
                        <a:lnSpc>
                          <a:spcPts val="1740"/>
                        </a:lnSpc>
                        <a:buNone/>
                      </a:pPr>
                      <a:r>
                        <a:rPr lang="en-US" sz="1243" dirty="0">
                          <a:solidFill>
                            <a:srgbClr val="1420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U-Net, TN3K only</a:t>
                      </a:r>
                      <a:endParaRPr lang="en-US" sz="1243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257" marR="55257" marT="55257" marB="55257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B9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740"/>
                        </a:lnSpc>
                        <a:buNone/>
                      </a:pPr>
                      <a:r>
                        <a:rPr lang="en-US" sz="1243" dirty="0">
                          <a:solidFill>
                            <a:srgbClr val="1420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0.7804</a:t>
                      </a:r>
                      <a:endParaRPr lang="en-US" sz="1243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257" marR="55257" marT="55257" marB="55257">
                    <a:lnL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B9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740"/>
                        </a:lnSpc>
                        <a:buNone/>
                      </a:pPr>
                      <a:r>
                        <a:rPr lang="en-US" sz="1243" dirty="0">
                          <a:solidFill>
                            <a:srgbClr val="1420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0.7919</a:t>
                      </a:r>
                      <a:endParaRPr lang="en-US" sz="1243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257" marR="55257" marT="55257" marB="55257">
                    <a:lnL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B9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740"/>
                        </a:lnSpc>
                        <a:buNone/>
                      </a:pPr>
                      <a:r>
                        <a:rPr lang="en-US" sz="1243" dirty="0">
                          <a:solidFill>
                            <a:srgbClr val="1420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0.7745</a:t>
                      </a:r>
                      <a:endParaRPr lang="en-US" sz="1243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257" marR="55257" marT="55257" marB="55257">
                    <a:lnL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B9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740"/>
                        </a:lnSpc>
                        <a:buNone/>
                      </a:pPr>
                      <a:r>
                        <a:rPr lang="en-US" sz="1243" dirty="0">
                          <a:solidFill>
                            <a:srgbClr val="1420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0.7777</a:t>
                      </a:r>
                      <a:endParaRPr lang="en-US" sz="1243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257" marR="55257" marT="55257" marB="55257">
                    <a:lnL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B9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740"/>
                        </a:lnSpc>
                        <a:buNone/>
                      </a:pPr>
                      <a:r>
                        <a:rPr lang="en-US" sz="1243" dirty="0">
                          <a:solidFill>
                            <a:srgbClr val="1420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0.7781</a:t>
                      </a:r>
                      <a:endParaRPr lang="en-US" sz="1243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257" marR="55257" marT="55257" marB="55257">
                    <a:lnL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B9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740"/>
                        </a:lnSpc>
                        <a:buNone/>
                      </a:pPr>
                      <a:r>
                        <a:rPr lang="en-US" sz="1243" dirty="0">
                          <a:solidFill>
                            <a:srgbClr val="1420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0.7805 ± 0.0067</a:t>
                      </a:r>
                      <a:endParaRPr lang="en-US" sz="1243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257" marR="55257" marT="55257" marB="55257">
                    <a:lnL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B9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1368">
                <a:tc>
                  <a:txBody>
                    <a:bodyPr/>
                    <a:lstStyle/>
                    <a:p>
                      <a:pPr marL="0" indent="0">
                        <a:lnSpc>
                          <a:spcPts val="1740"/>
                        </a:lnSpc>
                        <a:buNone/>
                      </a:pPr>
                      <a:r>
                        <a:rPr lang="en-US" sz="1243" dirty="0">
                          <a:solidFill>
                            <a:srgbClr val="1420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MTNet, TN3K + TG3K</a:t>
                      </a:r>
                      <a:endParaRPr lang="en-US" sz="1243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257" marR="55257" marT="55257" marB="55257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740"/>
                        </a:lnSpc>
                        <a:buNone/>
                      </a:pPr>
                      <a:r>
                        <a:rPr lang="en-US" sz="1243" dirty="0">
                          <a:solidFill>
                            <a:srgbClr val="1420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0.8041</a:t>
                      </a:r>
                      <a:endParaRPr lang="en-US" sz="1243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257" marR="55257" marT="55257" marB="55257">
                    <a:lnL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740"/>
                        </a:lnSpc>
                        <a:buNone/>
                      </a:pPr>
                      <a:r>
                        <a:rPr lang="en-US" sz="1243" dirty="0">
                          <a:solidFill>
                            <a:srgbClr val="1420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0.8099</a:t>
                      </a:r>
                      <a:endParaRPr lang="en-US" sz="1243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257" marR="55257" marT="55257" marB="55257">
                    <a:lnL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740"/>
                        </a:lnSpc>
                        <a:buNone/>
                      </a:pPr>
                      <a:r>
                        <a:rPr lang="en-US" sz="1243" dirty="0">
                          <a:solidFill>
                            <a:srgbClr val="1420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0.7907</a:t>
                      </a:r>
                      <a:endParaRPr lang="en-US" sz="1243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257" marR="55257" marT="55257" marB="55257">
                    <a:lnL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740"/>
                        </a:lnSpc>
                        <a:buNone/>
                      </a:pPr>
                      <a:r>
                        <a:rPr lang="en-US" sz="1243" dirty="0">
                          <a:solidFill>
                            <a:srgbClr val="1420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0.7975</a:t>
                      </a:r>
                      <a:endParaRPr lang="en-US" sz="1243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257" marR="55257" marT="55257" marB="55257">
                    <a:lnL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740"/>
                        </a:lnSpc>
                        <a:buNone/>
                      </a:pPr>
                      <a:r>
                        <a:rPr lang="en-US" sz="1243" dirty="0">
                          <a:solidFill>
                            <a:srgbClr val="1420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0.7934</a:t>
                      </a:r>
                      <a:endParaRPr lang="en-US" sz="1243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257" marR="55257" marT="55257" marB="55257">
                    <a:lnL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740"/>
                        </a:lnSpc>
                        <a:buNone/>
                      </a:pPr>
                      <a:r>
                        <a:rPr lang="en-US" sz="1243" dirty="0">
                          <a:solidFill>
                            <a:srgbClr val="1420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0.7991 ± 0.0079</a:t>
                      </a:r>
                      <a:endParaRPr lang="en-US" sz="1243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257" marR="55257" marT="55257" marB="55257">
                    <a:lnL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12329">
                <a:tc>
                  <a:txBody>
                    <a:bodyPr/>
                    <a:lstStyle/>
                    <a:p>
                      <a:pPr marL="0" indent="0">
                        <a:lnSpc>
                          <a:spcPts val="1740"/>
                        </a:lnSpc>
                        <a:buNone/>
                      </a:pPr>
                      <a:r>
                        <a:rPr lang="en-US" sz="1243" dirty="0">
                          <a:solidFill>
                            <a:srgbClr val="1F5FA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Difference</a:t>
                      </a:r>
                      <a:endParaRPr lang="en-US" sz="1243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257" marR="55257" marT="55257" marB="55257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BBC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740"/>
                        </a:lnSpc>
                        <a:buNone/>
                      </a:pPr>
                      <a:r>
                        <a:rPr lang="en-US" sz="1243" dirty="0">
                          <a:solidFill>
                            <a:srgbClr val="1F5FA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+0.0237</a:t>
                      </a:r>
                      <a:endParaRPr lang="en-US" sz="1243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257" marR="55257" marT="55257" marB="55257">
                    <a:lnL w="12700" cap="flat" cmpd="sng" algn="ctr">
                      <a:solidFill>
                        <a:srgbClr val="BBC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740"/>
                        </a:lnSpc>
                        <a:buNone/>
                      </a:pPr>
                      <a:r>
                        <a:rPr lang="en-US" sz="1243" dirty="0">
                          <a:solidFill>
                            <a:srgbClr val="1F5FA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+0.0180</a:t>
                      </a:r>
                      <a:endParaRPr lang="en-US" sz="1243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257" marR="55257" marT="55257" marB="55257">
                    <a:lnL w="12700" cap="flat" cmpd="sng" algn="ctr">
                      <a:solidFill>
                        <a:srgbClr val="BBC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740"/>
                        </a:lnSpc>
                        <a:buNone/>
                      </a:pPr>
                      <a:r>
                        <a:rPr lang="en-US" sz="1243" dirty="0">
                          <a:solidFill>
                            <a:srgbClr val="1F5FA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+0.0162</a:t>
                      </a:r>
                      <a:endParaRPr lang="en-US" sz="1243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257" marR="55257" marT="55257" marB="55257">
                    <a:lnL w="12700" cap="flat" cmpd="sng" algn="ctr">
                      <a:solidFill>
                        <a:srgbClr val="BBC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740"/>
                        </a:lnSpc>
                        <a:buNone/>
                      </a:pPr>
                      <a:r>
                        <a:rPr lang="en-US" sz="1243" dirty="0">
                          <a:solidFill>
                            <a:srgbClr val="1F5FA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+0.0198</a:t>
                      </a:r>
                      <a:endParaRPr lang="en-US" sz="1243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257" marR="55257" marT="55257" marB="55257">
                    <a:lnL w="12700" cap="flat" cmpd="sng" algn="ctr">
                      <a:solidFill>
                        <a:srgbClr val="BBC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740"/>
                        </a:lnSpc>
                        <a:buNone/>
                      </a:pPr>
                      <a:r>
                        <a:rPr lang="en-US" sz="1243" dirty="0">
                          <a:solidFill>
                            <a:srgbClr val="1F5FA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+0.0153</a:t>
                      </a:r>
                      <a:endParaRPr lang="en-US" sz="1243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257" marR="55257" marT="55257" marB="55257">
                    <a:lnL w="12700" cap="flat" cmpd="sng" algn="ctr">
                      <a:solidFill>
                        <a:srgbClr val="BBC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740"/>
                        </a:lnSpc>
                        <a:buNone/>
                      </a:pPr>
                      <a:r>
                        <a:rPr lang="en-US" sz="1243" dirty="0">
                          <a:solidFill>
                            <a:srgbClr val="1F5FA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+0.0186 ± 0.0033</a:t>
                      </a:r>
                      <a:endParaRPr lang="en-US" sz="1243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257" marR="55257" marT="55257" marB="55257">
                    <a:lnL w="12700" cap="flat" cmpd="sng" algn="ctr">
                      <a:solidFill>
                        <a:srgbClr val="BBC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812800" y="4259014"/>
            <a:ext cx="10566400" cy="0"/>
          </a:xfrm>
          <a:prstGeom prst="line">
            <a:avLst/>
          </a:prstGeom>
          <a:noFill/>
          <a:ln w="12700">
            <a:solidFill>
              <a:srgbClr val="141413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en-TW"/>
          </a:p>
        </p:txBody>
      </p:sp>
      <p:sp>
        <p:nvSpPr>
          <p:cNvPr id="9" name="Shape 6"/>
          <p:cNvSpPr/>
          <p:nvPr/>
        </p:nvSpPr>
        <p:spPr>
          <a:xfrm>
            <a:off x="819150" y="4252664"/>
            <a:ext cx="0" cy="1589336"/>
          </a:xfrm>
          <a:prstGeom prst="line">
            <a:avLst/>
          </a:prstGeom>
          <a:noFill/>
          <a:ln w="12700">
            <a:solidFill>
              <a:srgbClr val="141413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en-TW"/>
          </a:p>
        </p:txBody>
      </p:sp>
      <p:graphicFrame>
        <p:nvGraphicFramePr>
          <p:cNvPr id="10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27100" y="4354264"/>
          <a:ext cx="10350500" cy="1398834"/>
        </p:xfrm>
        <a:graphic>
          <a:graphicData uri="http://schemas.openxmlformats.org/drawingml/2006/table">
            <a:tbl>
              <a:tblPr/>
              <a:tblGrid>
                <a:gridCol w="22771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56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4907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560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560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6560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49696">
                <a:tc>
                  <a:txBody>
                    <a:bodyPr/>
                    <a:lstStyle/>
                    <a:p>
                      <a:pPr marL="0" indent="0">
                        <a:lnSpc>
                          <a:spcPts val="1769"/>
                        </a:lnSpc>
                        <a:buNone/>
                      </a:pPr>
                      <a:r>
                        <a:rPr lang="en-US" sz="1263" b="1" dirty="0">
                          <a:solidFill>
                            <a:srgbClr val="1420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Paired test, MTNet − U-Net</a:t>
                      </a:r>
                      <a:endParaRPr lang="en-US" sz="1263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6160" marR="56160" marT="56160" marB="56160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B9B9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B9B9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769"/>
                        </a:lnSpc>
                        <a:buNone/>
                      </a:pPr>
                      <a:r>
                        <a:rPr lang="en-US" sz="1263" b="1" dirty="0">
                          <a:solidFill>
                            <a:srgbClr val="1420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Δ</a:t>
                      </a:r>
                      <a:endParaRPr lang="en-US" sz="1263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6160" marR="56160" marT="56160" marB="56160">
                    <a:lnL w="12700" cap="flat" cmpd="sng" algn="ctr">
                      <a:solidFill>
                        <a:srgbClr val="B9B9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B9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B9B9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769"/>
                        </a:lnSpc>
                        <a:buNone/>
                      </a:pPr>
                      <a:r>
                        <a:rPr lang="en-US" sz="1263" b="1" dirty="0">
                          <a:solidFill>
                            <a:srgbClr val="1420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</a:t>
                      </a:r>
                      <a:endParaRPr lang="en-US" sz="1263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6160" marR="56160" marT="56160" marB="56160">
                    <a:lnL w="12700" cap="flat" cmpd="sng" algn="ctr">
                      <a:solidFill>
                        <a:srgbClr val="B9B9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B9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B9B9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769"/>
                        </a:lnSpc>
                        <a:buNone/>
                      </a:pPr>
                      <a:r>
                        <a:rPr lang="en-US" sz="1263" b="1" dirty="0">
                          <a:solidFill>
                            <a:srgbClr val="1420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 (4 df)</a:t>
                      </a:r>
                      <a:endParaRPr lang="en-US" sz="1263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6160" marR="56160" marT="56160" marB="56160">
                    <a:lnL w="12700" cap="flat" cmpd="sng" algn="ctr">
                      <a:solidFill>
                        <a:srgbClr val="B9B9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B9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B9B9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769"/>
                        </a:lnSpc>
                        <a:buNone/>
                      </a:pPr>
                      <a:r>
                        <a:rPr lang="en-US" sz="1263" b="1" dirty="0">
                          <a:solidFill>
                            <a:srgbClr val="1420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folds improved</a:t>
                      </a:r>
                      <a:endParaRPr lang="en-US" sz="1263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6160" marR="56160" marT="56160" marB="56160">
                    <a:lnL w="12700" cap="flat" cmpd="sng" algn="ctr">
                      <a:solidFill>
                        <a:srgbClr val="B9B9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B9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B9B9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769"/>
                        </a:lnSpc>
                        <a:buNone/>
                      </a:pPr>
                      <a:r>
                        <a:rPr lang="en-US" sz="1263" b="1" dirty="0">
                          <a:solidFill>
                            <a:srgbClr val="1420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verdict</a:t>
                      </a:r>
                      <a:endParaRPr lang="en-US" sz="1263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6160" marR="56160" marT="56160" marB="56160">
                    <a:lnL w="12700" cap="flat" cmpd="sng" algn="ctr">
                      <a:solidFill>
                        <a:srgbClr val="B9B9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B9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B9B9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9696">
                <a:tc>
                  <a:txBody>
                    <a:bodyPr/>
                    <a:lstStyle/>
                    <a:p>
                      <a:pPr marL="0" indent="0">
                        <a:lnSpc>
                          <a:spcPts val="1769"/>
                        </a:lnSpc>
                        <a:buNone/>
                      </a:pPr>
                      <a:r>
                        <a:rPr lang="en-US" sz="1263" dirty="0">
                          <a:solidFill>
                            <a:srgbClr val="1420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Dice (higher better)</a:t>
                      </a:r>
                      <a:endParaRPr lang="en-US" sz="1263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6160" marR="56160" marT="56160" marB="56160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B9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769"/>
                        </a:lnSpc>
                        <a:buNone/>
                      </a:pPr>
                      <a:r>
                        <a:rPr lang="en-US" sz="1263" dirty="0">
                          <a:solidFill>
                            <a:srgbClr val="1420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+0.0186</a:t>
                      </a:r>
                      <a:endParaRPr lang="en-US" sz="1263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6160" marR="56160" marT="56160" marB="56160">
                    <a:lnL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B9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769"/>
                        </a:lnSpc>
                        <a:buNone/>
                      </a:pPr>
                      <a:r>
                        <a:rPr lang="en-US" sz="1263" dirty="0">
                          <a:solidFill>
                            <a:srgbClr val="1420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0.0015</a:t>
                      </a:r>
                      <a:endParaRPr lang="en-US" sz="1263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6160" marR="56160" marT="56160" marB="56160">
                    <a:lnL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B9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769"/>
                        </a:lnSpc>
                        <a:buNone/>
                      </a:pPr>
                      <a:r>
                        <a:rPr lang="en-US" sz="1263" dirty="0">
                          <a:solidFill>
                            <a:srgbClr val="1420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+12.56</a:t>
                      </a:r>
                      <a:endParaRPr lang="en-US" sz="1263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6160" marR="56160" marT="56160" marB="56160">
                    <a:lnL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B9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769"/>
                        </a:lnSpc>
                        <a:buNone/>
                      </a:pPr>
                      <a:r>
                        <a:rPr lang="en-US" sz="1263" dirty="0">
                          <a:solidFill>
                            <a:srgbClr val="1420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 / 5</a:t>
                      </a:r>
                      <a:endParaRPr lang="en-US" sz="1263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6160" marR="56160" marT="56160" marB="56160">
                    <a:lnL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B9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769"/>
                        </a:lnSpc>
                        <a:buNone/>
                      </a:pPr>
                      <a:r>
                        <a:rPr lang="en-US" sz="1263" dirty="0">
                          <a:solidFill>
                            <a:srgbClr val="1F5FA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passes 0.014</a:t>
                      </a:r>
                      <a:endParaRPr lang="en-US" sz="1263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6160" marR="56160" marT="56160" marB="56160">
                    <a:lnL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B9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9696">
                <a:tc>
                  <a:txBody>
                    <a:bodyPr/>
                    <a:lstStyle/>
                    <a:p>
                      <a:pPr marL="0" indent="0">
                        <a:lnSpc>
                          <a:spcPts val="1769"/>
                        </a:lnSpc>
                        <a:buNone/>
                      </a:pPr>
                      <a:r>
                        <a:rPr lang="en-US" sz="1263" dirty="0">
                          <a:solidFill>
                            <a:srgbClr val="1420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IoU (higher better)</a:t>
                      </a:r>
                      <a:endParaRPr lang="en-US" sz="1263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6160" marR="56160" marT="56160" marB="56160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769"/>
                        </a:lnSpc>
                        <a:buNone/>
                      </a:pPr>
                      <a:r>
                        <a:rPr lang="en-US" sz="1263" dirty="0">
                          <a:solidFill>
                            <a:srgbClr val="1420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+0.0254</a:t>
                      </a:r>
                      <a:endParaRPr lang="en-US" sz="1263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6160" marR="56160" marT="56160" marB="56160">
                    <a:lnL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769"/>
                        </a:lnSpc>
                        <a:buNone/>
                      </a:pPr>
                      <a:r>
                        <a:rPr lang="en-US" sz="1263" dirty="0">
                          <a:solidFill>
                            <a:srgbClr val="1420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0.0020</a:t>
                      </a:r>
                      <a:endParaRPr lang="en-US" sz="1263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6160" marR="56160" marT="56160" marB="56160">
                    <a:lnL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769"/>
                        </a:lnSpc>
                        <a:buNone/>
                      </a:pPr>
                      <a:r>
                        <a:rPr lang="en-US" sz="1263" dirty="0">
                          <a:solidFill>
                            <a:srgbClr val="1420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+12.56</a:t>
                      </a:r>
                      <a:endParaRPr lang="en-US" sz="1263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6160" marR="56160" marT="56160" marB="56160">
                    <a:lnL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769"/>
                        </a:lnSpc>
                        <a:buNone/>
                      </a:pPr>
                      <a:r>
                        <a:rPr lang="en-US" sz="1263" dirty="0">
                          <a:solidFill>
                            <a:srgbClr val="1420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 / 5</a:t>
                      </a:r>
                      <a:endParaRPr lang="en-US" sz="1263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6160" marR="56160" marT="56160" marB="56160">
                    <a:lnL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769"/>
                        </a:lnSpc>
                        <a:buNone/>
                      </a:pPr>
                      <a:r>
                        <a:rPr lang="en-US" sz="1263" dirty="0">
                          <a:solidFill>
                            <a:srgbClr val="1F5FA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agrees</a:t>
                      </a:r>
                      <a:endParaRPr lang="en-US" sz="1263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6160" marR="56160" marT="56160" marB="56160">
                    <a:lnL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9746">
                <a:tc>
                  <a:txBody>
                    <a:bodyPr/>
                    <a:lstStyle/>
                    <a:p>
                      <a:pPr marL="0" indent="0">
                        <a:lnSpc>
                          <a:spcPts val="1769"/>
                        </a:lnSpc>
                        <a:buNone/>
                      </a:pPr>
                      <a:r>
                        <a:rPr lang="en-US" sz="1263" dirty="0">
                          <a:solidFill>
                            <a:srgbClr val="1420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HD95 px (lower better)</a:t>
                      </a:r>
                      <a:endParaRPr lang="en-US" sz="1263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6160" marR="56160" marT="56160" marB="56160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769"/>
                        </a:lnSpc>
                        <a:buNone/>
                      </a:pPr>
                      <a:r>
                        <a:rPr lang="en-US" sz="1263" dirty="0">
                          <a:solidFill>
                            <a:srgbClr val="1420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−4.33</a:t>
                      </a:r>
                      <a:endParaRPr lang="en-US" sz="1263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6160" marR="56160" marT="56160" marB="56160">
                    <a:lnL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769"/>
                        </a:lnSpc>
                        <a:buNone/>
                      </a:pPr>
                      <a:r>
                        <a:rPr lang="en-US" sz="1263" dirty="0">
                          <a:solidFill>
                            <a:srgbClr val="1420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0.72</a:t>
                      </a:r>
                      <a:endParaRPr lang="en-US" sz="1263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6160" marR="56160" marT="56160" marB="56160">
                    <a:lnL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769"/>
                        </a:lnSpc>
                        <a:buNone/>
                      </a:pPr>
                      <a:r>
                        <a:rPr lang="en-US" sz="1263" dirty="0">
                          <a:solidFill>
                            <a:srgbClr val="1420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−5.99</a:t>
                      </a:r>
                      <a:endParaRPr lang="en-US" sz="1263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6160" marR="56160" marT="56160" marB="56160">
                    <a:lnL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769"/>
                        </a:lnSpc>
                        <a:buNone/>
                      </a:pPr>
                      <a:r>
                        <a:rPr lang="en-US" sz="1263" dirty="0">
                          <a:solidFill>
                            <a:srgbClr val="1420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 / 5</a:t>
                      </a:r>
                      <a:endParaRPr lang="en-US" sz="1263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6160" marR="56160" marT="56160" marB="56160">
                    <a:lnL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769"/>
                        </a:lnSpc>
                        <a:buNone/>
                      </a:pPr>
                      <a:r>
                        <a:rPr lang="en-US" sz="1263" dirty="0">
                          <a:solidFill>
                            <a:srgbClr val="1F5FA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agrees, −17%</a:t>
                      </a:r>
                      <a:endParaRPr lang="en-US" sz="1263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6160" marR="56160" marT="56160" marB="56160">
                    <a:lnL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1" name="Text 7"/>
          <p:cNvSpPr/>
          <p:nvPr/>
        </p:nvSpPr>
        <p:spPr>
          <a:xfrm>
            <a:off x="707869" y="6275412"/>
            <a:ext cx="113792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7A87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notes/19_ladder_nodule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812800" y="812800"/>
            <a:ext cx="11379200" cy="6046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665"/>
              </a:lnSpc>
              <a:buNone/>
            </a:pPr>
            <a:r>
              <a:rPr lang="en-US" sz="2317" b="1" i="0" dirty="0">
                <a:solidFill>
                  <a:srgbClr val="14202E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Q3 · Does the published TRFE+ architecture earn its complexity?</a:t>
            </a:r>
            <a:endParaRPr lang="en-US" sz="2317" dirty="0"/>
          </a:p>
        </p:txBody>
      </p:sp>
      <p:sp>
        <p:nvSpPr>
          <p:cNvPr id="3" name="Shape 1"/>
          <p:cNvSpPr/>
          <p:nvPr/>
        </p:nvSpPr>
        <p:spPr>
          <a:xfrm>
            <a:off x="831850" y="1607989"/>
            <a:ext cx="0" cy="514598"/>
          </a:xfrm>
          <a:prstGeom prst="line">
            <a:avLst/>
          </a:prstGeom>
          <a:noFill/>
          <a:ln w="38100">
            <a:solidFill>
              <a:srgbClr val="B35C1E"/>
            </a:solidFill>
            <a:prstDash val="solid"/>
          </a:ln>
        </p:spPr>
        <p:txBody>
          <a:bodyPr/>
          <a:lstStyle/>
          <a:p>
            <a:endParaRPr lang="en-TW"/>
          </a:p>
        </p:txBody>
      </p:sp>
      <p:sp>
        <p:nvSpPr>
          <p:cNvPr id="4" name="Text 2"/>
          <p:cNvSpPr/>
          <p:nvPr/>
        </p:nvSpPr>
        <p:spPr>
          <a:xfrm>
            <a:off x="1028700" y="1633389"/>
            <a:ext cx="10072370" cy="4891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37"/>
              </a:lnSpc>
              <a:buNone/>
            </a:pPr>
            <a:r>
              <a:rPr lang="en-US" sz="1413" b="1" dirty="0">
                <a:solidFill>
                  <a:srgbClr val="14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Not.</a:t>
            </a:r>
            <a:r>
              <a:rPr lang="en-US" sz="1413" dirty="0">
                <a:solidFill>
                  <a:srgbClr val="14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+0.0044 Dice over MTNet — a quarter of the threshold, on 3 of 5 folds, with the other two metrics disagreeing.</a:t>
            </a:r>
            <a:endParaRPr lang="en-US" sz="1413" dirty="0"/>
          </a:p>
        </p:txBody>
      </p:sp>
      <p:sp>
        <p:nvSpPr>
          <p:cNvPr id="5" name="Shape 3"/>
          <p:cNvSpPr/>
          <p:nvPr/>
        </p:nvSpPr>
        <p:spPr>
          <a:xfrm>
            <a:off x="812800" y="2344837"/>
            <a:ext cx="10566400" cy="0"/>
          </a:xfrm>
          <a:prstGeom prst="line">
            <a:avLst/>
          </a:prstGeom>
          <a:noFill/>
          <a:ln w="12700">
            <a:solidFill>
              <a:srgbClr val="141413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en-TW"/>
          </a:p>
        </p:txBody>
      </p:sp>
      <p:sp>
        <p:nvSpPr>
          <p:cNvPr id="6" name="Shape 4"/>
          <p:cNvSpPr/>
          <p:nvPr/>
        </p:nvSpPr>
        <p:spPr>
          <a:xfrm>
            <a:off x="819150" y="2338487"/>
            <a:ext cx="0" cy="1866205"/>
          </a:xfrm>
          <a:prstGeom prst="line">
            <a:avLst/>
          </a:prstGeom>
          <a:noFill/>
          <a:ln w="12700">
            <a:solidFill>
              <a:srgbClr val="141413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en-TW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30228472"/>
              </p:ext>
            </p:extLst>
          </p:nvPr>
        </p:nvGraphicFramePr>
        <p:xfrm>
          <a:off x="927100" y="2440087"/>
          <a:ext cx="10350500" cy="1677295"/>
        </p:xfrm>
        <a:graphic>
          <a:graphicData uri="http://schemas.openxmlformats.org/drawingml/2006/table">
            <a:tbl>
              <a:tblPr/>
              <a:tblGrid>
                <a:gridCol w="22771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56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4907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560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560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6560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35459"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211" b="1" dirty="0">
                          <a:solidFill>
                            <a:srgbClr val="1420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TRFE+ − </a:t>
                      </a:r>
                      <a:r>
                        <a:rPr lang="en-US" sz="1211" b="1" kern="1200" dirty="0" err="1">
                          <a:solidFill>
                            <a:srgbClr val="1420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MTNet</a:t>
                      </a:r>
                      <a:r>
                        <a:rPr lang="en-US" sz="1211" b="1" kern="1200" dirty="0">
                          <a:solidFill>
                            <a:srgbClr val="1420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, TN3K test</a:t>
                      </a:r>
                      <a:endParaRPr lang="en-US" sz="1211" b="1" kern="1200" dirty="0">
                        <a:solidFill>
                          <a:srgbClr val="14202E"/>
                        </a:solidFill>
                        <a:latin typeface="Arial" pitchFamily="34" charset="0"/>
                        <a:ea typeface="Arial" charset="0"/>
                        <a:cs typeface="Arial" pitchFamily="34" charset="-120"/>
                      </a:endParaRPr>
                    </a:p>
                  </a:txBody>
                  <a:tcPr marL="53812" marR="53812" marT="53812" marB="53812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B9B9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B9B9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695"/>
                        </a:lnSpc>
                        <a:buNone/>
                      </a:pPr>
                      <a:r>
                        <a:rPr lang="en-US" sz="1211" b="1" dirty="0">
                          <a:solidFill>
                            <a:srgbClr val="1420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Δ</a:t>
                      </a:r>
                      <a:endParaRPr lang="en-US" sz="1211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812" marR="53812" marT="53812" marB="53812">
                    <a:lnL w="12700" cap="flat" cmpd="sng" algn="ctr">
                      <a:solidFill>
                        <a:srgbClr val="B9B9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B9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B9B9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695"/>
                        </a:lnSpc>
                        <a:buNone/>
                      </a:pPr>
                      <a:r>
                        <a:rPr lang="en-US" sz="1211" b="1" dirty="0">
                          <a:solidFill>
                            <a:srgbClr val="1420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</a:t>
                      </a:r>
                      <a:endParaRPr lang="en-US" sz="1211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812" marR="53812" marT="53812" marB="53812">
                    <a:lnL w="12700" cap="flat" cmpd="sng" algn="ctr">
                      <a:solidFill>
                        <a:srgbClr val="B9B9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B9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B9B9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695"/>
                        </a:lnSpc>
                        <a:buNone/>
                      </a:pPr>
                      <a:r>
                        <a:rPr lang="en-US" sz="1211" b="1" dirty="0">
                          <a:solidFill>
                            <a:srgbClr val="1420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 (4 df)</a:t>
                      </a:r>
                      <a:endParaRPr lang="en-US" sz="1211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812" marR="53812" marT="53812" marB="53812">
                    <a:lnL w="12700" cap="flat" cmpd="sng" algn="ctr">
                      <a:solidFill>
                        <a:srgbClr val="B9B9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B9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B9B9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695"/>
                        </a:lnSpc>
                        <a:buNone/>
                      </a:pPr>
                      <a:r>
                        <a:rPr lang="en-US" sz="1211" b="1" dirty="0">
                          <a:solidFill>
                            <a:srgbClr val="1420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folds improved</a:t>
                      </a:r>
                      <a:endParaRPr lang="en-US" sz="1211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812" marR="53812" marT="53812" marB="53812">
                    <a:lnL w="12700" cap="flat" cmpd="sng" algn="ctr">
                      <a:solidFill>
                        <a:srgbClr val="B9B9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B9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B9B9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95"/>
                        </a:lnSpc>
                        <a:buNone/>
                      </a:pPr>
                      <a:r>
                        <a:rPr lang="en-US" sz="1211" b="1" dirty="0">
                          <a:solidFill>
                            <a:srgbClr val="1420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verdict</a:t>
                      </a:r>
                      <a:endParaRPr lang="en-US" sz="1211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812" marR="53812" marT="53812" marB="53812">
                    <a:lnL w="12700" cap="flat" cmpd="sng" algn="ctr">
                      <a:solidFill>
                        <a:srgbClr val="B9B9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B9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B9B9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5459">
                <a:tc>
                  <a:txBody>
                    <a:bodyPr/>
                    <a:lstStyle/>
                    <a:p>
                      <a:pPr marL="0" indent="0">
                        <a:lnSpc>
                          <a:spcPts val="1695"/>
                        </a:lnSpc>
                        <a:buNone/>
                      </a:pPr>
                      <a:r>
                        <a:rPr lang="en-US" sz="1211" dirty="0">
                          <a:solidFill>
                            <a:srgbClr val="1420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Dice (higher better)</a:t>
                      </a:r>
                      <a:endParaRPr lang="en-US" sz="1211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812" marR="53812" marT="53812" marB="53812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B9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695"/>
                        </a:lnSpc>
                        <a:buNone/>
                      </a:pPr>
                      <a:r>
                        <a:rPr lang="en-US" sz="1211" dirty="0">
                          <a:solidFill>
                            <a:srgbClr val="1420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+0.0044</a:t>
                      </a:r>
                      <a:endParaRPr lang="en-US" sz="1211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812" marR="53812" marT="53812" marB="53812">
                    <a:lnL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B9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695"/>
                        </a:lnSpc>
                        <a:buNone/>
                      </a:pPr>
                      <a:r>
                        <a:rPr lang="en-US" sz="1211" dirty="0">
                          <a:solidFill>
                            <a:srgbClr val="1420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0.0024</a:t>
                      </a:r>
                      <a:endParaRPr lang="en-US" sz="1211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812" marR="53812" marT="53812" marB="53812">
                    <a:lnL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B9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695"/>
                        </a:lnSpc>
                        <a:buNone/>
                      </a:pPr>
                      <a:r>
                        <a:rPr lang="en-US" sz="1211" dirty="0">
                          <a:solidFill>
                            <a:srgbClr val="1420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+1.86</a:t>
                      </a:r>
                      <a:endParaRPr lang="en-US" sz="1211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812" marR="53812" marT="53812" marB="53812">
                    <a:lnL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B9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695"/>
                        </a:lnSpc>
                        <a:buNone/>
                      </a:pPr>
                      <a:r>
                        <a:rPr lang="en-US" sz="1211" dirty="0">
                          <a:solidFill>
                            <a:srgbClr val="1420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 / 5</a:t>
                      </a:r>
                      <a:endParaRPr lang="en-US" sz="1211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812" marR="53812" marT="53812" marB="53812">
                    <a:lnL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B9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95"/>
                        </a:lnSpc>
                        <a:buNone/>
                      </a:pPr>
                      <a:r>
                        <a:rPr lang="en-US" sz="1211" dirty="0">
                          <a:solidFill>
                            <a:srgbClr val="B35C1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below 0.014</a:t>
                      </a:r>
                      <a:endParaRPr lang="en-US" sz="1211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812" marR="53812" marT="53812" marB="53812">
                    <a:lnL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B9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5459">
                <a:tc>
                  <a:txBody>
                    <a:bodyPr/>
                    <a:lstStyle/>
                    <a:p>
                      <a:pPr marL="0" indent="0">
                        <a:lnSpc>
                          <a:spcPts val="1695"/>
                        </a:lnSpc>
                        <a:buNone/>
                      </a:pPr>
                      <a:r>
                        <a:rPr lang="en-US" sz="1211" dirty="0">
                          <a:solidFill>
                            <a:srgbClr val="1420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IoU (higher better)</a:t>
                      </a:r>
                      <a:endParaRPr lang="en-US" sz="1211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812" marR="53812" marT="53812" marB="53812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695"/>
                        </a:lnSpc>
                        <a:buNone/>
                      </a:pPr>
                      <a:r>
                        <a:rPr lang="en-US" sz="1211" dirty="0">
                          <a:solidFill>
                            <a:srgbClr val="1420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−0.0001</a:t>
                      </a:r>
                      <a:endParaRPr lang="en-US" sz="1211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812" marR="53812" marT="53812" marB="53812">
                    <a:lnL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695"/>
                        </a:lnSpc>
                        <a:buNone/>
                      </a:pPr>
                      <a:r>
                        <a:rPr lang="en-US" sz="1211" dirty="0">
                          <a:solidFill>
                            <a:srgbClr val="1420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0.0029</a:t>
                      </a:r>
                      <a:endParaRPr lang="en-US" sz="1211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812" marR="53812" marT="53812" marB="53812">
                    <a:lnL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695"/>
                        </a:lnSpc>
                        <a:buNone/>
                      </a:pPr>
                      <a:r>
                        <a:rPr lang="en-US" sz="1211" dirty="0">
                          <a:solidFill>
                            <a:srgbClr val="1420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−0.04</a:t>
                      </a:r>
                      <a:endParaRPr lang="en-US" sz="1211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812" marR="53812" marT="53812" marB="53812">
                    <a:lnL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695"/>
                        </a:lnSpc>
                        <a:buNone/>
                      </a:pPr>
                      <a:r>
                        <a:rPr lang="en-US" sz="1211" dirty="0">
                          <a:solidFill>
                            <a:srgbClr val="1420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 / 5</a:t>
                      </a:r>
                      <a:endParaRPr lang="en-US" sz="1211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812" marR="53812" marT="53812" marB="53812">
                    <a:lnL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95"/>
                        </a:lnSpc>
                        <a:buNone/>
                      </a:pPr>
                      <a:r>
                        <a:rPr lang="en-US" sz="1211" dirty="0">
                          <a:solidFill>
                            <a:srgbClr val="B35C1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flat</a:t>
                      </a:r>
                      <a:endParaRPr lang="en-US" sz="1211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812" marR="53812" marT="53812" marB="53812">
                    <a:lnL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5459">
                <a:tc>
                  <a:txBody>
                    <a:bodyPr/>
                    <a:lstStyle/>
                    <a:p>
                      <a:pPr marL="0" indent="0">
                        <a:lnSpc>
                          <a:spcPts val="1695"/>
                        </a:lnSpc>
                        <a:buNone/>
                      </a:pPr>
                      <a:r>
                        <a:rPr lang="en-US" sz="1211" dirty="0">
                          <a:solidFill>
                            <a:srgbClr val="1420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HD95 px (lower better)</a:t>
                      </a:r>
                      <a:endParaRPr lang="en-US" sz="1211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812" marR="53812" marT="53812" marB="53812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695"/>
                        </a:lnSpc>
                        <a:buNone/>
                      </a:pPr>
                      <a:r>
                        <a:rPr lang="en-US" sz="1211" dirty="0">
                          <a:solidFill>
                            <a:srgbClr val="1420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+0.41</a:t>
                      </a:r>
                      <a:endParaRPr lang="en-US" sz="1211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812" marR="53812" marT="53812" marB="53812">
                    <a:lnL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695"/>
                        </a:lnSpc>
                        <a:buNone/>
                      </a:pPr>
                      <a:r>
                        <a:rPr lang="en-US" sz="1211" dirty="0">
                          <a:solidFill>
                            <a:srgbClr val="1420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0.40</a:t>
                      </a:r>
                      <a:endParaRPr lang="en-US" sz="1211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812" marR="53812" marT="53812" marB="53812">
                    <a:lnL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695"/>
                        </a:lnSpc>
                        <a:buNone/>
                      </a:pPr>
                      <a:r>
                        <a:rPr lang="en-US" sz="1211" dirty="0">
                          <a:solidFill>
                            <a:srgbClr val="1420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+1.02</a:t>
                      </a:r>
                      <a:endParaRPr lang="en-US" sz="1211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812" marR="53812" marT="53812" marB="53812">
                    <a:lnL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695"/>
                        </a:lnSpc>
                        <a:buNone/>
                      </a:pPr>
                      <a:r>
                        <a:rPr lang="en-US" sz="1211" dirty="0">
                          <a:solidFill>
                            <a:srgbClr val="1420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 / 5</a:t>
                      </a:r>
                      <a:endParaRPr lang="en-US" sz="1211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812" marR="53812" marT="53812" marB="53812">
                    <a:lnL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95"/>
                        </a:lnSpc>
                        <a:buNone/>
                      </a:pPr>
                      <a:r>
                        <a:rPr lang="en-US" sz="1211" dirty="0">
                          <a:solidFill>
                            <a:srgbClr val="B35C1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slightly worse</a:t>
                      </a:r>
                      <a:endParaRPr lang="en-US" sz="1211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812" marR="53812" marT="53812" marB="53812">
                    <a:lnL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5459">
                <a:tc>
                  <a:txBody>
                    <a:bodyPr/>
                    <a:lstStyle/>
                    <a:p>
                      <a:pPr marL="0" indent="0">
                        <a:lnSpc>
                          <a:spcPts val="1695"/>
                        </a:lnSpc>
                        <a:buNone/>
                      </a:pPr>
                      <a:r>
                        <a:rPr lang="en-US" sz="1211" dirty="0">
                          <a:solidFill>
                            <a:srgbClr val="1420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Gland head Dice, TG3K 14–15</a:t>
                      </a:r>
                      <a:endParaRPr lang="en-US" sz="1211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812" marR="53812" marT="53812" marB="53812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695"/>
                        </a:lnSpc>
                        <a:buNone/>
                      </a:pPr>
                      <a:r>
                        <a:rPr lang="en-US" sz="1211" dirty="0">
                          <a:solidFill>
                            <a:srgbClr val="1420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−0.0052</a:t>
                      </a:r>
                      <a:endParaRPr lang="en-US" sz="1211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812" marR="53812" marT="53812" marB="53812">
                    <a:lnL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695"/>
                        </a:lnSpc>
                        <a:buNone/>
                      </a:pPr>
                      <a:r>
                        <a:rPr lang="en-US" sz="1211" dirty="0">
                          <a:solidFill>
                            <a:srgbClr val="1420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0.0105</a:t>
                      </a:r>
                      <a:endParaRPr lang="en-US" sz="1211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812" marR="53812" marT="53812" marB="53812">
                    <a:lnL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695"/>
                        </a:lnSpc>
                        <a:buNone/>
                      </a:pPr>
                      <a:r>
                        <a:rPr lang="en-US" sz="1211" dirty="0">
                          <a:solidFill>
                            <a:srgbClr val="1420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−0.49</a:t>
                      </a:r>
                      <a:endParaRPr lang="en-US" sz="1211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812" marR="53812" marT="53812" marB="53812">
                    <a:lnL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695"/>
                        </a:lnSpc>
                        <a:buNone/>
                      </a:pPr>
                      <a:r>
                        <a:rPr lang="en-US" sz="1211" dirty="0">
                          <a:solidFill>
                            <a:srgbClr val="1420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 / 5</a:t>
                      </a:r>
                      <a:endParaRPr lang="en-US" sz="1211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812" marR="53812" marT="53812" marB="53812">
                    <a:lnL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95"/>
                        </a:lnSpc>
                        <a:buNone/>
                      </a:pPr>
                      <a:r>
                        <a:rPr lang="en-US" sz="1211" dirty="0">
                          <a:solidFill>
                            <a:srgbClr val="B35C1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 gain either</a:t>
                      </a:r>
                      <a:endParaRPr lang="en-US" sz="1211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812" marR="53812" marT="53812" marB="53812">
                    <a:lnL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2" name="Shape 9"/>
          <p:cNvSpPr/>
          <p:nvPr/>
        </p:nvSpPr>
        <p:spPr>
          <a:xfrm>
            <a:off x="3566408" y="4397448"/>
            <a:ext cx="4996954" cy="1347445"/>
          </a:xfrm>
          <a:prstGeom prst="roundRect">
            <a:avLst>
              <a:gd name="adj" fmla="val 5161"/>
            </a:avLst>
          </a:prstGeom>
          <a:solidFill>
            <a:srgbClr val="F1F0E8"/>
          </a:solidFill>
          <a:ln w="6350">
            <a:solidFill>
              <a:srgbClr val="DCDBD1"/>
            </a:solidFill>
            <a:prstDash val="solid"/>
          </a:ln>
        </p:spPr>
        <p:txBody>
          <a:bodyPr/>
          <a:lstStyle/>
          <a:p>
            <a:endParaRPr lang="en-TW"/>
          </a:p>
        </p:txBody>
      </p:sp>
      <p:sp>
        <p:nvSpPr>
          <p:cNvPr id="13" name="Text 10"/>
          <p:cNvSpPr/>
          <p:nvPr/>
        </p:nvSpPr>
        <p:spPr>
          <a:xfrm>
            <a:off x="3772783" y="4603823"/>
            <a:ext cx="4721730" cy="2042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423"/>
              </a:lnSpc>
              <a:buNone/>
            </a:pPr>
            <a:r>
              <a:rPr lang="en-US" sz="1186" b="1" dirty="0">
                <a:solidFill>
                  <a:srgbClr val="14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this null is trustworthy</a:t>
            </a:r>
            <a:endParaRPr lang="en-US" sz="1186" dirty="0"/>
          </a:p>
        </p:txBody>
      </p:sp>
      <p:sp>
        <p:nvSpPr>
          <p:cNvPr id="14" name="Text 11"/>
          <p:cNvSpPr/>
          <p:nvPr/>
        </p:nvSpPr>
        <p:spPr>
          <a:xfrm>
            <a:off x="3772783" y="4858865"/>
            <a:ext cx="4721730" cy="7726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52"/>
              </a:lnSpc>
              <a:buNone/>
            </a:pPr>
            <a:r>
              <a:rPr lang="en-US" sz="115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TRFE+ differs from MTNet by only </a:t>
            </a:r>
            <a:r>
              <a:rPr lang="en-US" sz="1150" b="1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+5% parameters</a:t>
            </a:r>
            <a:r>
              <a:rPr lang="en-US" sz="115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so capacity cannot explain the absence of a gain. Step 3 is the better-controlled of the two comparisons — even though it is the one that found nothing.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812800" y="6024959"/>
            <a:ext cx="10883392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7A87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notes/19b_ladder_rung3.txt</a:t>
            </a:r>
            <a:endParaRPr lang="en-US" sz="12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AB03ED2-0D8E-8020-8DA1-AFD223C33504}"/>
              </a:ext>
            </a:extLst>
          </p:cNvPr>
          <p:cNvSpPr txBox="1"/>
          <p:nvPr/>
        </p:nvSpPr>
        <p:spPr>
          <a:xfrm>
            <a:off x="927100" y="5860534"/>
            <a:ext cx="27622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</a:t>
            </a:r>
            <a:r>
              <a:rPr lang="en-TW" dirty="0"/>
              <a:t>mage annotation quality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768920F-4975-250D-7742-B7FBD01D3A6F}"/>
              </a:ext>
            </a:extLst>
          </p:cNvPr>
          <p:cNvSpPr txBox="1"/>
          <p:nvPr/>
        </p:nvSpPr>
        <p:spPr>
          <a:xfrm>
            <a:off x="1365504" y="6255791"/>
            <a:ext cx="6096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TW" sz="1200" dirty="0"/>
              <a:t>TG3K masks are lossy JPEG with soft boundaries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812800" y="812800"/>
            <a:ext cx="11379200" cy="6030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r>
              <a:rPr lang="en-US" sz="2078" b="1" dirty="0">
                <a:latin typeface="Georgia" pitchFamily="18" charset="0"/>
              </a:rPr>
              <a:t>Q4 · </a:t>
            </a:r>
            <a:r>
              <a:rPr lang="en-TW" sz="2078" b="1" dirty="0">
                <a:latin typeface="Georgia" pitchFamily="18" charset="0"/>
              </a:rPr>
              <a:t>Are the cross-dataset pseudo-labels plausible?</a:t>
            </a:r>
            <a:endParaRPr lang="en-US" sz="2078" b="1" dirty="0">
              <a:latin typeface="Georgia" pitchFamily="18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831850" y="1593652"/>
            <a:ext cx="0" cy="513308"/>
          </a:xfrm>
          <a:prstGeom prst="line">
            <a:avLst/>
          </a:prstGeom>
          <a:noFill/>
          <a:ln w="38100">
            <a:solidFill>
              <a:srgbClr val="B35C1E"/>
            </a:solidFill>
            <a:prstDash val="solid"/>
          </a:ln>
        </p:spPr>
        <p:txBody>
          <a:bodyPr/>
          <a:lstStyle/>
          <a:p>
            <a:endParaRPr lang="en-TW"/>
          </a:p>
        </p:txBody>
      </p:sp>
      <p:sp>
        <p:nvSpPr>
          <p:cNvPr id="4" name="Text 2"/>
          <p:cNvSpPr/>
          <p:nvPr/>
        </p:nvSpPr>
        <p:spPr>
          <a:xfrm>
            <a:off x="1028700" y="1619052"/>
            <a:ext cx="10072370" cy="4879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37"/>
              </a:lnSpc>
              <a:buNone/>
            </a:pPr>
            <a:r>
              <a:rPr lang="en-US" sz="1413" b="1" dirty="0">
                <a:solidFill>
                  <a:srgbClr val="14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Maybe no — in either direction</a:t>
            </a:r>
            <a:r>
              <a:rPr lang="en-US" sz="1413" dirty="0">
                <a:solidFill>
                  <a:srgbClr val="14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and the two fail in opposite ways. No pseudo-labels were used for training; no union model was built.</a:t>
            </a:r>
            <a:endParaRPr lang="en-US" sz="1413" dirty="0"/>
          </a:p>
        </p:txBody>
      </p:sp>
      <p:sp>
        <p:nvSpPr>
          <p:cNvPr id="5" name="Shape 3"/>
          <p:cNvSpPr/>
          <p:nvPr/>
        </p:nvSpPr>
        <p:spPr>
          <a:xfrm>
            <a:off x="812800" y="2316510"/>
            <a:ext cx="10566400" cy="0"/>
          </a:xfrm>
          <a:prstGeom prst="line">
            <a:avLst/>
          </a:prstGeom>
          <a:noFill/>
          <a:ln w="12700">
            <a:solidFill>
              <a:srgbClr val="141413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en-TW"/>
          </a:p>
        </p:txBody>
      </p:sp>
      <p:sp>
        <p:nvSpPr>
          <p:cNvPr id="6" name="Shape 4"/>
          <p:cNvSpPr/>
          <p:nvPr/>
        </p:nvSpPr>
        <p:spPr>
          <a:xfrm>
            <a:off x="819150" y="2310160"/>
            <a:ext cx="0" cy="2031107"/>
          </a:xfrm>
          <a:prstGeom prst="line">
            <a:avLst/>
          </a:prstGeom>
          <a:noFill/>
          <a:ln w="12700">
            <a:solidFill>
              <a:srgbClr val="141413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en-TW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33258508"/>
              </p:ext>
            </p:extLst>
          </p:nvPr>
        </p:nvGraphicFramePr>
        <p:xfrm>
          <a:off x="927100" y="2411760"/>
          <a:ext cx="10350500" cy="1840607"/>
        </p:xfrm>
        <a:graphic>
          <a:graphicData uri="http://schemas.openxmlformats.org/drawingml/2006/table">
            <a:tbl>
              <a:tblPr/>
              <a:tblGrid>
                <a:gridCol w="19665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736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56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5542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31242">
                <a:tc>
                  <a:txBody>
                    <a:bodyPr/>
                    <a:lstStyle/>
                    <a:p>
                      <a:pPr marL="0" indent="0">
                        <a:lnSpc>
                          <a:spcPts val="1672"/>
                        </a:lnSpc>
                        <a:buNone/>
                      </a:pPr>
                      <a:r>
                        <a:rPr lang="en-US" sz="1194" b="1" dirty="0">
                          <a:solidFill>
                            <a:srgbClr val="1420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Direction</a:t>
                      </a:r>
                      <a:endParaRPr lang="en-US" sz="1194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090" marR="53090" marT="53090" marB="53090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B9B9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B9B9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72"/>
                        </a:lnSpc>
                        <a:buNone/>
                      </a:pPr>
                      <a:r>
                        <a:rPr lang="en-US" sz="1194" b="1" dirty="0">
                          <a:solidFill>
                            <a:srgbClr val="1420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Teacher (in-domain score)</a:t>
                      </a:r>
                      <a:endParaRPr lang="en-US" sz="1194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090" marR="53090" marT="53090" marB="53090">
                    <a:lnL w="12700" cap="flat" cmpd="sng" algn="ctr">
                      <a:solidFill>
                        <a:srgbClr val="B9B9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B9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B9B9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72"/>
                        </a:lnSpc>
                        <a:buNone/>
                      </a:pPr>
                      <a:r>
                        <a:rPr lang="en-US" sz="1194" b="1" dirty="0">
                          <a:solidFill>
                            <a:srgbClr val="1420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Applied to</a:t>
                      </a:r>
                      <a:endParaRPr lang="en-US" sz="1194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090" marR="53090" marT="53090" marB="53090">
                    <a:lnL w="12700" cap="flat" cmpd="sng" algn="ctr">
                      <a:solidFill>
                        <a:srgbClr val="B9B9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B9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B9B9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72"/>
                        </a:lnSpc>
                        <a:buNone/>
                      </a:pPr>
                      <a:r>
                        <a:rPr lang="en-US" sz="1194" b="1" dirty="0">
                          <a:solidFill>
                            <a:srgbClr val="1420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Behaviour out of domain</a:t>
                      </a:r>
                      <a:endParaRPr lang="en-US" sz="1194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090" marR="53090" marT="53090" marB="53090">
                    <a:lnL w="12700" cap="flat" cmpd="sng" algn="ctr">
                      <a:solidFill>
                        <a:srgbClr val="B9B9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B9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B9B9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54658">
                <a:tc>
                  <a:txBody>
                    <a:bodyPr/>
                    <a:lstStyle/>
                    <a:p>
                      <a:pPr marL="0" indent="0">
                        <a:lnSpc>
                          <a:spcPts val="1672"/>
                        </a:lnSpc>
                        <a:buNone/>
                      </a:pPr>
                      <a:r>
                        <a:rPr lang="en-US" sz="1194" dirty="0">
                          <a:solidFill>
                            <a:srgbClr val="1420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gland → TN3K</a:t>
                      </a:r>
                      <a:endParaRPr lang="en-US" sz="1194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090" marR="53090" marT="53090" marB="53090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B9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72"/>
                        </a:lnSpc>
                        <a:buNone/>
                      </a:pPr>
                      <a:r>
                        <a:rPr lang="en-US" sz="1194" dirty="0">
                          <a:solidFill>
                            <a:srgbClr val="1420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U-Net on TG3K, Dice 0.7287</a:t>
                      </a:r>
                      <a:endParaRPr lang="en-US" sz="1194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090" marR="53090" marT="53090" marB="53090">
                    <a:lnL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B9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72"/>
                        </a:lnSpc>
                        <a:buNone/>
                      </a:pPr>
                      <a:r>
                        <a:rPr lang="en-US" sz="1194" dirty="0">
                          <a:solidFill>
                            <a:srgbClr val="1420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TN3K test, 614 images</a:t>
                      </a:r>
                      <a:endParaRPr lang="en-US" sz="1194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090" marR="53090" marT="53090" marB="53090">
                    <a:lnL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B9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72"/>
                        </a:lnSpc>
                        <a:buNone/>
                      </a:pPr>
                      <a:r>
                        <a:rPr lang="en-US" sz="1194" dirty="0">
                          <a:solidFill>
                            <a:srgbClr val="1420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Predicted gland area −35% (8.0% → 5.2% of frame); connected components 2 → 4; empty rate 0.7% → 2.4%. </a:t>
                      </a:r>
                      <a:endParaRPr lang="en-US" sz="1194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090" marR="53090" marT="53090" marB="53090">
                    <a:lnL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B9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54707">
                <a:tc>
                  <a:txBody>
                    <a:bodyPr/>
                    <a:lstStyle/>
                    <a:p>
                      <a:pPr marL="0" indent="0">
                        <a:lnSpc>
                          <a:spcPts val="1672"/>
                        </a:lnSpc>
                        <a:buNone/>
                      </a:pPr>
                      <a:r>
                        <a:rPr lang="en-US" sz="1194" dirty="0">
                          <a:solidFill>
                            <a:srgbClr val="1420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nodule → TG3K</a:t>
                      </a:r>
                      <a:endParaRPr lang="en-US" sz="1194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090" marR="53090" marT="53090" marB="53090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72"/>
                        </a:lnSpc>
                        <a:buNone/>
                      </a:pPr>
                      <a:r>
                        <a:rPr lang="en-US" sz="1194" dirty="0">
                          <a:solidFill>
                            <a:srgbClr val="1420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U-Net on TN3K, Dice 0.7805</a:t>
                      </a:r>
                      <a:endParaRPr lang="en-US" sz="1194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090" marR="53090" marT="53090" marB="53090">
                    <a:lnL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72"/>
                        </a:lnSpc>
                        <a:buNone/>
                      </a:pPr>
                      <a:r>
                        <a:rPr lang="en-US" sz="1194" dirty="0">
                          <a:solidFill>
                            <a:srgbClr val="1420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TG3K val, 559 frames</a:t>
                      </a:r>
                      <a:endParaRPr lang="en-US" sz="1194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090" marR="53090" marT="53090" marB="53090">
                    <a:lnL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72"/>
                        </a:lnSpc>
                        <a:buNone/>
                      </a:pPr>
                      <a:r>
                        <a:rPr lang="en-US" sz="1194" dirty="0">
                          <a:solidFill>
                            <a:srgbClr val="1420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56% of frames blank (vs 1.3% in domain); predicted area 25× too small (7.48% → 0.29%); Dice against gland ground truth 0.0145 — not the gland either.</a:t>
                      </a:r>
                      <a:endParaRPr lang="en-US" sz="1194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090" marR="53090" marT="53090" marB="53090">
                    <a:lnL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4" name="Text 11"/>
          <p:cNvSpPr/>
          <p:nvPr/>
        </p:nvSpPr>
        <p:spPr>
          <a:xfrm>
            <a:off x="812800" y="6024959"/>
            <a:ext cx="10883392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7A87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Evidence: notes/22_gland_on_tn3k.png, notes/23_nodule_on_tg3k.png, notes/28_nodulemodel_vs_glandgt.csv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577408-E5AB-FC91-FF85-6A3CBA6538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57400" y="447665"/>
            <a:ext cx="8839200" cy="485041"/>
          </a:xfrm>
        </p:spPr>
        <p:txBody>
          <a:bodyPr/>
          <a:lstStyle/>
          <a:p>
            <a:r>
              <a:rPr lang="en-TW" sz="2078" b="1" dirty="0">
                <a:latin typeface="Georgia" pitchFamily="18" charset="0"/>
              </a:rPr>
              <a:t>Q4.1: Do the pseudo-labels work as training labels?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63866EA7-8C0D-B868-DF08-A1B2AEDC9ED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2350692"/>
              </p:ext>
            </p:extLst>
          </p:nvPr>
        </p:nvGraphicFramePr>
        <p:xfrm>
          <a:off x="664029" y="1698962"/>
          <a:ext cx="10744200" cy="294923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74420">
                  <a:extLst>
                    <a:ext uri="{9D8B030D-6E8A-4147-A177-3AD203B41FA5}">
                      <a16:colId xmlns:a16="http://schemas.microsoft.com/office/drawing/2014/main" val="2809974599"/>
                    </a:ext>
                  </a:extLst>
                </a:gridCol>
                <a:gridCol w="1074420">
                  <a:extLst>
                    <a:ext uri="{9D8B030D-6E8A-4147-A177-3AD203B41FA5}">
                      <a16:colId xmlns:a16="http://schemas.microsoft.com/office/drawing/2014/main" val="2343874740"/>
                    </a:ext>
                  </a:extLst>
                </a:gridCol>
                <a:gridCol w="1074420">
                  <a:extLst>
                    <a:ext uri="{9D8B030D-6E8A-4147-A177-3AD203B41FA5}">
                      <a16:colId xmlns:a16="http://schemas.microsoft.com/office/drawing/2014/main" val="758667969"/>
                    </a:ext>
                  </a:extLst>
                </a:gridCol>
                <a:gridCol w="1074420">
                  <a:extLst>
                    <a:ext uri="{9D8B030D-6E8A-4147-A177-3AD203B41FA5}">
                      <a16:colId xmlns:a16="http://schemas.microsoft.com/office/drawing/2014/main" val="3281601075"/>
                    </a:ext>
                  </a:extLst>
                </a:gridCol>
                <a:gridCol w="1074420">
                  <a:extLst>
                    <a:ext uri="{9D8B030D-6E8A-4147-A177-3AD203B41FA5}">
                      <a16:colId xmlns:a16="http://schemas.microsoft.com/office/drawing/2014/main" val="3901280456"/>
                    </a:ext>
                  </a:extLst>
                </a:gridCol>
                <a:gridCol w="1074420">
                  <a:extLst>
                    <a:ext uri="{9D8B030D-6E8A-4147-A177-3AD203B41FA5}">
                      <a16:colId xmlns:a16="http://schemas.microsoft.com/office/drawing/2014/main" val="862980632"/>
                    </a:ext>
                  </a:extLst>
                </a:gridCol>
                <a:gridCol w="1074420">
                  <a:extLst>
                    <a:ext uri="{9D8B030D-6E8A-4147-A177-3AD203B41FA5}">
                      <a16:colId xmlns:a16="http://schemas.microsoft.com/office/drawing/2014/main" val="3636225357"/>
                    </a:ext>
                  </a:extLst>
                </a:gridCol>
                <a:gridCol w="1074420">
                  <a:extLst>
                    <a:ext uri="{9D8B030D-6E8A-4147-A177-3AD203B41FA5}">
                      <a16:colId xmlns:a16="http://schemas.microsoft.com/office/drawing/2014/main" val="3742564563"/>
                    </a:ext>
                  </a:extLst>
                </a:gridCol>
                <a:gridCol w="1074420">
                  <a:extLst>
                    <a:ext uri="{9D8B030D-6E8A-4147-A177-3AD203B41FA5}">
                      <a16:colId xmlns:a16="http://schemas.microsoft.com/office/drawing/2014/main" val="2120629125"/>
                    </a:ext>
                  </a:extLst>
                </a:gridCol>
                <a:gridCol w="1074420">
                  <a:extLst>
                    <a:ext uri="{9D8B030D-6E8A-4147-A177-3AD203B41FA5}">
                      <a16:colId xmlns:a16="http://schemas.microsoft.com/office/drawing/2014/main" val="3182665155"/>
                    </a:ext>
                  </a:extLst>
                </a:gridCol>
              </a:tblGrid>
              <a:tr h="54137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TW" sz="1400" b="1" dirty="0"/>
                        <a:t>Arm</a:t>
                      </a:r>
                    </a:p>
                  </a:txBody>
                  <a:tcPr marL="59394" marR="59394" marT="29697" marB="2969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TW" sz="1400" b="1" dirty="0"/>
                        <a:t>Trained on</a:t>
                      </a:r>
                    </a:p>
                  </a:txBody>
                  <a:tcPr marL="59394" marR="59394" marT="29697" marB="2969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TW" sz="1400" b="1" dirty="0"/>
                        <a:t>Labels</a:t>
                      </a:r>
                    </a:p>
                  </a:txBody>
                  <a:tcPr marL="59394" marR="59394" marT="29697" marB="2969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TW" sz="1400" b="1" dirty="0"/>
                        <a:t>Blank in train</a:t>
                      </a:r>
                    </a:p>
                  </a:txBody>
                  <a:tcPr marL="59394" marR="59394" marT="29697" marB="2969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TW" sz="1400" b="1" dirty="0"/>
                        <a:t>Train loss</a:t>
                      </a:r>
                    </a:p>
                  </a:txBody>
                  <a:tcPr marL="59394" marR="59394" marT="29697" marB="2969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TW" sz="1400" b="1" dirty="0"/>
                        <a:t>Evaluated on</a:t>
                      </a:r>
                    </a:p>
                  </a:txBody>
                  <a:tcPr marL="59394" marR="59394" marT="29697" marB="2969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TW" sz="1400" b="1" dirty="0"/>
                        <a:t>n</a:t>
                      </a:r>
                    </a:p>
                  </a:txBody>
                  <a:tcPr marL="59394" marR="59394" marT="29697" marB="2969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TW" sz="1400" b="1" dirty="0"/>
                        <a:t>Dice mean </a:t>
                      </a:r>
                    </a:p>
                  </a:txBody>
                  <a:tcPr marL="59394" marR="59394" marT="29697" marB="2969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TW" sz="1400" b="1" dirty="0"/>
                        <a:t>IoU </a:t>
                      </a:r>
                    </a:p>
                  </a:txBody>
                  <a:tcPr marL="59394" marR="59394" marT="29697" marB="2969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TW" sz="1400" b="1" dirty="0"/>
                        <a:t>HD95 </a:t>
                      </a:r>
                    </a:p>
                  </a:txBody>
                  <a:tcPr marL="59394" marR="59394" marT="29697" marB="29697" anchor="ctr"/>
                </a:tc>
                <a:extLst>
                  <a:ext uri="{0D108BD9-81ED-4DB2-BD59-A6C34878D82A}">
                    <a16:rowId xmlns:a16="http://schemas.microsoft.com/office/drawing/2014/main" val="2047838869"/>
                  </a:ext>
                </a:extLst>
              </a:tr>
              <a:tr h="73690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TW" sz="1200" dirty="0"/>
                        <a:t>Teacher- nodule</a:t>
                      </a:r>
                    </a:p>
                  </a:txBody>
                  <a:tcPr marL="59394" marR="59394" marT="29697" marB="2969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TW" sz="1200" dirty="0"/>
                        <a:t>tn3k:trainval</a:t>
                      </a:r>
                    </a:p>
                  </a:txBody>
                  <a:tcPr marL="59394" marR="59394" marT="29697" marB="2969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TW" sz="1200"/>
                        <a:t>real</a:t>
                      </a:r>
                    </a:p>
                  </a:txBody>
                  <a:tcPr marL="59394" marR="59394" marT="29697" marB="2969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TW" sz="1200"/>
                        <a:t>6 / 2,879 (0.2%)</a:t>
                      </a:r>
                    </a:p>
                  </a:txBody>
                  <a:tcPr marL="59394" marR="59394" marT="29697" marB="2969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TW" sz="1200"/>
                        <a:t>0.0586</a:t>
                      </a:r>
                    </a:p>
                  </a:txBody>
                  <a:tcPr marL="59394" marR="59394" marT="29697" marB="2969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TW" sz="1200" dirty="0"/>
                        <a:t>TN3K test</a:t>
                      </a:r>
                    </a:p>
                  </a:txBody>
                  <a:tcPr marL="59394" marR="59394" marT="29697" marB="2969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TW" sz="1200" dirty="0"/>
                        <a:t>614</a:t>
                      </a:r>
                    </a:p>
                  </a:txBody>
                  <a:tcPr marL="59394" marR="59394" marT="29697" marB="2969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TW" sz="1200" b="0" dirty="0"/>
                        <a:t>0.7918</a:t>
                      </a:r>
                    </a:p>
                  </a:txBody>
                  <a:tcPr marL="59394" marR="59394" marT="29697" marB="2969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TW" sz="1200"/>
                        <a:t>0.6995</a:t>
                      </a:r>
                    </a:p>
                  </a:txBody>
                  <a:tcPr marL="59394" marR="59394" marT="29697" marB="2969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TW" sz="1200" dirty="0"/>
                        <a:t>22.27</a:t>
                      </a:r>
                    </a:p>
                  </a:txBody>
                  <a:tcPr marL="59394" marR="59394" marT="29697" marB="29697" anchor="ctr"/>
                </a:tc>
                <a:extLst>
                  <a:ext uri="{0D108BD9-81ED-4DB2-BD59-A6C34878D82A}">
                    <a16:rowId xmlns:a16="http://schemas.microsoft.com/office/drawing/2014/main" val="1454716660"/>
                  </a:ext>
                </a:extLst>
              </a:tr>
              <a:tr h="59873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TW" sz="1200"/>
                        <a:t>Student C</a:t>
                      </a:r>
                    </a:p>
                  </a:txBody>
                  <a:tcPr marL="59394" marR="59394" marT="29697" marB="2969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TW" sz="1200"/>
                        <a:t>tg3k:train</a:t>
                      </a:r>
                    </a:p>
                  </a:txBody>
                  <a:tcPr marL="59394" marR="59394" marT="29697" marB="2969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TW" sz="1200" dirty="0"/>
                        <a:t>pseudo nodule</a:t>
                      </a:r>
                    </a:p>
                  </a:txBody>
                  <a:tcPr marL="59394" marR="59394" marT="29697" marB="2969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TW" sz="1200" dirty="0"/>
                        <a:t>791 / 3,026 (26.1%)</a:t>
                      </a:r>
                    </a:p>
                  </a:txBody>
                  <a:tcPr marL="59394" marR="59394" marT="29697" marB="2969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TW" sz="1200"/>
                        <a:t>0.4573</a:t>
                      </a:r>
                    </a:p>
                  </a:txBody>
                  <a:tcPr marL="59394" marR="59394" marT="29697" marB="2969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TW" sz="1200"/>
                        <a:t>TN3K test</a:t>
                      </a:r>
                    </a:p>
                  </a:txBody>
                  <a:tcPr marL="59394" marR="59394" marT="29697" marB="2969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TW" sz="1200"/>
                        <a:t>614</a:t>
                      </a:r>
                    </a:p>
                  </a:txBody>
                  <a:tcPr marL="59394" marR="59394" marT="29697" marB="2969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TW" sz="1200"/>
                        <a:t>0.0000</a:t>
                      </a:r>
                    </a:p>
                  </a:txBody>
                  <a:tcPr marL="59394" marR="59394" marT="29697" marB="2969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TW" sz="1200"/>
                        <a:t>0.0000</a:t>
                      </a:r>
                    </a:p>
                  </a:txBody>
                  <a:tcPr marL="59394" marR="59394" marT="29697" marB="2969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TW" sz="1200" dirty="0"/>
                        <a:t>undefined</a:t>
                      </a:r>
                    </a:p>
                  </a:txBody>
                  <a:tcPr marL="59394" marR="59394" marT="29697" marB="29697" anchor="ctr"/>
                </a:tc>
                <a:extLst>
                  <a:ext uri="{0D108BD9-81ED-4DB2-BD59-A6C34878D82A}">
                    <a16:rowId xmlns:a16="http://schemas.microsoft.com/office/drawing/2014/main" val="2410375460"/>
                  </a:ext>
                </a:extLst>
              </a:tr>
              <a:tr h="47348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TW" sz="1200" dirty="0"/>
                        <a:t>Teacher- gland</a:t>
                      </a:r>
                    </a:p>
                  </a:txBody>
                  <a:tcPr marL="59394" marR="59394" marT="29697" marB="2969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TW" sz="1200" dirty="0"/>
                        <a:t>TG3K fold 0</a:t>
                      </a:r>
                    </a:p>
                  </a:txBody>
                  <a:tcPr marL="59394" marR="59394" marT="29697" marB="2969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TW" sz="1200" dirty="0"/>
                        <a:t>real</a:t>
                      </a:r>
                    </a:p>
                  </a:txBody>
                  <a:tcPr marL="59394" marR="59394" marT="29697" marB="29697"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en-TW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 / 3,585 (0.0%) </a:t>
                      </a:r>
                    </a:p>
                  </a:txBody>
                  <a:tcPr marL="59394" marR="59394" marT="29697" marB="2969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TW" sz="1200"/>
                        <a:t>0.0</a:t>
                      </a:r>
                      <a:r>
                        <a:rPr lang="en-TW" sz="1200" dirty="0"/>
                        <a:t>8</a:t>
                      </a:r>
                    </a:p>
                  </a:txBody>
                  <a:tcPr marL="59394" marR="59394" marT="29697" marB="2969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TW" sz="1200" dirty="0"/>
                        <a:t>TG3K val</a:t>
                      </a:r>
                    </a:p>
                  </a:txBody>
                  <a:tcPr marL="59394" marR="59394" marT="29697" marB="2969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TW" sz="1200"/>
                        <a:t>559</a:t>
                      </a:r>
                    </a:p>
                  </a:txBody>
                  <a:tcPr marL="59394" marR="59394" marT="29697" marB="2969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TW" sz="1200"/>
                        <a:t>0.7287</a:t>
                      </a:r>
                    </a:p>
                  </a:txBody>
                  <a:tcPr marL="59394" marR="59394" marT="29697" marB="2969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TW" sz="1200" dirty="0"/>
                        <a:t>0.6183</a:t>
                      </a:r>
                    </a:p>
                  </a:txBody>
                  <a:tcPr marL="59394" marR="59394" marT="29697" marB="2969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TW" sz="1200" dirty="0"/>
                        <a:t>60.40</a:t>
                      </a:r>
                    </a:p>
                  </a:txBody>
                  <a:tcPr marL="59394" marR="59394" marT="29697" marB="29697" anchor="ctr"/>
                </a:tc>
                <a:extLst>
                  <a:ext uri="{0D108BD9-81ED-4DB2-BD59-A6C34878D82A}">
                    <a16:rowId xmlns:a16="http://schemas.microsoft.com/office/drawing/2014/main" val="1635816321"/>
                  </a:ext>
                </a:extLst>
              </a:tr>
              <a:tr h="59873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TW" sz="1200"/>
                        <a:t>Student G</a:t>
                      </a:r>
                    </a:p>
                  </a:txBody>
                  <a:tcPr marL="59394" marR="59394" marT="29697" marB="2969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TW" sz="1200"/>
                        <a:t>tn3k:trainval</a:t>
                      </a:r>
                    </a:p>
                  </a:txBody>
                  <a:tcPr marL="59394" marR="59394" marT="29697" marB="2969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TW" sz="1200"/>
                        <a:t>pseudo gland</a:t>
                      </a:r>
                    </a:p>
                  </a:txBody>
                  <a:tcPr marL="59394" marR="59394" marT="29697" marB="2969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TW" sz="1200"/>
                        <a:t>58 / 2,879 (2.0%)</a:t>
                      </a:r>
                    </a:p>
                  </a:txBody>
                  <a:tcPr marL="59394" marR="59394" marT="29697" marB="2969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TW" sz="1200"/>
                        <a:t>0.3444</a:t>
                      </a:r>
                    </a:p>
                  </a:txBody>
                  <a:tcPr marL="59394" marR="59394" marT="29697" marB="2969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TW" sz="1200" dirty="0"/>
                        <a:t>TG3K val</a:t>
                      </a:r>
                    </a:p>
                  </a:txBody>
                  <a:tcPr marL="59394" marR="59394" marT="29697" marB="2969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TW" sz="1200" dirty="0"/>
                        <a:t>559</a:t>
                      </a:r>
                    </a:p>
                  </a:txBody>
                  <a:tcPr marL="59394" marR="59394" marT="29697" marB="2969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TW" sz="1200" dirty="0"/>
                        <a:t>0.7318</a:t>
                      </a:r>
                    </a:p>
                  </a:txBody>
                  <a:tcPr marL="59394" marR="59394" marT="29697" marB="2969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TW" sz="1200" dirty="0"/>
                        <a:t>0.6222</a:t>
                      </a:r>
                    </a:p>
                  </a:txBody>
                  <a:tcPr marL="59394" marR="59394" marT="29697" marB="2969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TW" sz="1200" dirty="0"/>
                        <a:t>78.65</a:t>
                      </a:r>
                    </a:p>
                  </a:txBody>
                  <a:tcPr marL="59394" marR="59394" marT="29697" marB="29697" anchor="ctr"/>
                </a:tc>
                <a:extLst>
                  <a:ext uri="{0D108BD9-81ED-4DB2-BD59-A6C34878D82A}">
                    <a16:rowId xmlns:a16="http://schemas.microsoft.com/office/drawing/2014/main" val="551410010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DAB015A6-12C0-F08E-DD64-C80F2CB6F102}"/>
              </a:ext>
            </a:extLst>
          </p:cNvPr>
          <p:cNvSpPr txBox="1"/>
          <p:nvPr/>
        </p:nvSpPr>
        <p:spPr>
          <a:xfrm>
            <a:off x="664028" y="5159037"/>
            <a:ext cx="10744200" cy="16004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TW" sz="1400" dirty="0"/>
              <a:t>Nodule pseudo-labels on TG3K (3,026 frames): training fails. 26.1% of the generated labels were blank, and the Dice loss rewards an empty prediction on a blank target, so Student C converged on predicting nothing: 0.0000 Dice on all 614 TN3K test images.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TW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TW" sz="1400" dirty="0"/>
              <a:t>Gland pseudo-labels on TN3K (2,879 images): training succeeds but gains nothing. the student reproduced its teacher’s overlap (Dice 0.7287 → 0.7318) but increased boundary error by roughly a third (HD95 60.40 → 78.65). A model trained on another model’s predictions can at best match its teacher, and TN3K has no gland ground truth, so the labels cannot be verified.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TW" sz="14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C4B93AC-1837-2015-D8FB-7ED7D56281E6}"/>
              </a:ext>
            </a:extLst>
          </p:cNvPr>
          <p:cNvSpPr txBox="1"/>
          <p:nvPr/>
        </p:nvSpPr>
        <p:spPr>
          <a:xfrm>
            <a:off x="2057400" y="966002"/>
            <a:ext cx="6096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buNone/>
            </a:pPr>
            <a:r>
              <a:rPr lang="en-TW" sz="1600" dirty="0"/>
              <a:t>No — in neither direction, but for different reasons.</a:t>
            </a:r>
          </a:p>
        </p:txBody>
      </p:sp>
    </p:spTree>
    <p:extLst>
      <p:ext uri="{BB962C8B-B14F-4D97-AF65-F5344CB8AC3E}">
        <p14:creationId xmlns:p14="http://schemas.microsoft.com/office/powerpoint/2010/main" val="1949272903"/>
      </p:ext>
    </p:extLst>
  </p:cSld>
  <p:clrMapOvr>
    <a:masterClrMapping/>
  </p:clrMapOvr>
</p:sld>
</file>

<file path=ppt/theme/theme1.xml><?xml version="1.0" encoding="utf-8"?>
<a:theme xmlns:a="http://schemas.openxmlformats.org/drawingml/2006/main" name="W4 Progress — Baseline Selection &amp; Pseudo-Labelling">
  <a:themeElements>
    <a:clrScheme name="W4 Progress — Baseline Selection &amp; Pseudo-Labelling">
      <a:dk1>
        <a:srgbClr val="14202E"/>
      </a:dk1>
      <a:lt1>
        <a:srgbClr val="FAFAF7"/>
      </a:lt1>
      <a:dk2>
        <a:srgbClr val="4E5760"/>
      </a:dk2>
      <a:lt2>
        <a:srgbClr val="E3E4E3"/>
      </a:lt2>
      <a:accent1>
        <a:srgbClr val="8FB3D9"/>
      </a:accent1>
      <a:accent2>
        <a:srgbClr val="E0A676"/>
      </a:accent2>
      <a:accent3>
        <a:srgbClr val="4A5568"/>
      </a:accent3>
      <a:accent4>
        <a:srgbClr val="7A8798"/>
      </a:accent4>
      <a:accent5>
        <a:srgbClr val="BFD0E0"/>
      </a:accent5>
      <a:accent6>
        <a:srgbClr val="7E90A4"/>
      </a:accent6>
      <a:hlink>
        <a:srgbClr val="0563C1"/>
      </a:hlink>
      <a:folHlink>
        <a:srgbClr val="954F72"/>
      </a:folHlink>
    </a:clrScheme>
    <a:fontScheme name="W4 Progress — Baseline Selection &amp; Pseudo-Labelling">
      <a:majorFont>
        <a:latin typeface="Georg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2225</TotalTime>
  <Words>1282</Words>
  <Application>Microsoft Macintosh PowerPoint</Application>
  <PresentationFormat>Widescreen</PresentationFormat>
  <Paragraphs>241</Paragraphs>
  <Slides>7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Georgia</vt:lpstr>
      <vt:lpstr>W4 Progress — Baseline Selection &amp; Pseudo-Labelling</vt:lpstr>
      <vt:lpstr>Baseline selection and pseudo-labelling</vt:lpstr>
      <vt:lpstr>Design: three steps, one change each</vt:lpstr>
      <vt:lpstr>Q1 · Which model should be the working baseline?</vt:lpstr>
      <vt:lpstr>Q2 · Does gland supervision help nodule segmentation?</vt:lpstr>
      <vt:lpstr>Q3 · Does the published TRFE+ architecture earn its complexity?</vt:lpstr>
      <vt:lpstr>Q4 · Are the cross-dataset pseudo-labels plausible?</vt:lpstr>
      <vt:lpstr>Q4.1: Do the pseudo-labels work as training labels?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W4 Progress — Baseline Selection &amp; Pseudo-Labelling</dc:title>
  <dc:subject/>
  <dc:creator/>
  <cp:lastModifiedBy>Amy Shih</cp:lastModifiedBy>
  <cp:revision>10</cp:revision>
  <dcterms:created xsi:type="dcterms:W3CDTF">2026-10-12T21:34:07Z</dcterms:created>
  <dcterms:modified xsi:type="dcterms:W3CDTF">2026-10-19T03:23:44Z</dcterms:modified>
</cp:coreProperties>
</file>